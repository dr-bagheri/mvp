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cca87662994792" /><Relationship Type="http://schemas.openxmlformats.org/officeDocument/2006/relationships/extended-properties" Target="/docProps/app.xml" Id="R6fba4f1cc8d24769" /><Relationship Type="http://schemas.openxmlformats.org/officeDocument/2006/relationships/officeDocument" Target="/ppt/presentation.xml" Id="R7206ab7d21db458f" /></Relationships>
</file>

<file path=ppt/presentation.xml><?xml version="1.0" encoding="utf-8"?>
<p:presentation xmlns:p="http://schemas.openxmlformats.org/presentationml/2006/main">
  <p:sldMasterIdLst>
    <p:sldMasterId xmlns:r="http://schemas.openxmlformats.org/officeDocument/2006/relationships" id="2147483648" r:id="R1df8aa2e69404fca"/>
  </p:sldMasterIdLst>
  <p:notesMasterIdLst>
    <p:notesMasterId xmlns:r="http://schemas.openxmlformats.org/officeDocument/2006/relationships" r:id="R6830d5c75f414f55"/>
  </p:notesMasterIdLst>
  <p:sldIdLst>
    <p:sldId xmlns:r="http://schemas.openxmlformats.org/officeDocument/2006/relationships" id="256" r:id="Rd3e3820cd91847ee"/>
    <p:sldId xmlns:r="http://schemas.openxmlformats.org/officeDocument/2006/relationships" id="257" r:id="R9c16a884ea354bad"/>
    <p:sldId xmlns:r="http://schemas.openxmlformats.org/officeDocument/2006/relationships" id="258" r:id="Rf4aa84251c184979"/>
    <p:sldId xmlns:r="http://schemas.openxmlformats.org/officeDocument/2006/relationships" id="259" r:id="R1cc55b827dde4518"/>
    <p:sldId xmlns:r="http://schemas.openxmlformats.org/officeDocument/2006/relationships" id="260" r:id="R70e642501a4a4428"/>
    <p:sldId xmlns:r="http://schemas.openxmlformats.org/officeDocument/2006/relationships" id="261" r:id="R10e215898de14aab"/>
    <p:sldId xmlns:r="http://schemas.openxmlformats.org/officeDocument/2006/relationships" id="262" r:id="R5ff9e902002e4879"/>
    <p:sldId xmlns:r="http://schemas.openxmlformats.org/officeDocument/2006/relationships" id="263" r:id="R94660a104f7e4a5b"/>
    <p:sldId xmlns:r="http://schemas.openxmlformats.org/officeDocument/2006/relationships" id="264" r:id="R3fc2cf7f92904b4b"/>
    <p:sldId xmlns:r="http://schemas.openxmlformats.org/officeDocument/2006/relationships" id="265" r:id="R6aefaf7da1a54a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274a8d7d3e4819" /><Relationship Type="http://schemas.openxmlformats.org/officeDocument/2006/relationships/slideMaster" Target="/ppt/slideMasters/slideMaster1.xml" Id="R1df8aa2e69404fca" /><Relationship Type="http://schemas.openxmlformats.org/officeDocument/2006/relationships/notesMaster" Target="/ppt/notesMasters/notesMaster1.xml" Id="R6830d5c75f414f55" /><Relationship Type="http://schemas.openxmlformats.org/officeDocument/2006/relationships/presProps" Target="/ppt/presProps.xml" Id="R0cc840bc6cc84f2b" /><Relationship Type="http://schemas.openxmlformats.org/officeDocument/2006/relationships/tableStyles" Target="/ppt/tableStyles.xml" Id="R56f8821e9d774b51" /><Relationship Type="http://schemas.openxmlformats.org/officeDocument/2006/relationships/slide" Target="/ppt/slides/slide1.xml" Id="Rd3e3820cd91847ee" /><Relationship Type="http://schemas.openxmlformats.org/officeDocument/2006/relationships/slide" Target="/ppt/slides/slide2.xml" Id="R9c16a884ea354bad" /><Relationship Type="http://schemas.openxmlformats.org/officeDocument/2006/relationships/slide" Target="/ppt/slides/slide3.xml" Id="Rf4aa84251c184979" /><Relationship Type="http://schemas.openxmlformats.org/officeDocument/2006/relationships/slide" Target="/ppt/slides/slide4.xml" Id="R1cc55b827dde4518" /><Relationship Type="http://schemas.openxmlformats.org/officeDocument/2006/relationships/slide" Target="/ppt/slides/slide5.xml" Id="R70e642501a4a4428" /><Relationship Type="http://schemas.openxmlformats.org/officeDocument/2006/relationships/slide" Target="/ppt/slides/slide6.xml" Id="R10e215898de14aab" /><Relationship Type="http://schemas.openxmlformats.org/officeDocument/2006/relationships/slide" Target="/ppt/slides/slide7.xml" Id="R5ff9e902002e4879" /><Relationship Type="http://schemas.openxmlformats.org/officeDocument/2006/relationships/slide" Target="/ppt/slides/slide8.xml" Id="R94660a104f7e4a5b" /><Relationship Type="http://schemas.openxmlformats.org/officeDocument/2006/relationships/slide" Target="/ppt/slides/slide9.xml" Id="R3fc2cf7f92904b4b" /><Relationship Type="http://schemas.openxmlformats.org/officeDocument/2006/relationships/slide" Target="/ppt/slides/slide10.xml" Id="R6aefaf7da1a54a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81019b37b244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8d511a80364527" /><Relationship Type="http://schemas.openxmlformats.org/officeDocument/2006/relationships/notesMaster" Target="/ppt/notesMasters/notesMaster1.xml" Id="R0f21402d2a4a40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f07d4a11954ec2" /><Relationship Type="http://schemas.openxmlformats.org/officeDocument/2006/relationships/notesMaster" Target="/ppt/notesMasters/notesMaster1.xml" Id="Rcb1fee61d45343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bc4bf2a6f94ce1" /><Relationship Type="http://schemas.openxmlformats.org/officeDocument/2006/relationships/notesMaster" Target="/ppt/notesMasters/notesMaster1.xml" Id="Rc52593416ed44a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627168e5eb4c3f" /><Relationship Type="http://schemas.openxmlformats.org/officeDocument/2006/relationships/notesMaster" Target="/ppt/notesMasters/notesMaster1.xml" Id="Rc4f0d04d36524e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d492aabb1c47eb" /><Relationship Type="http://schemas.openxmlformats.org/officeDocument/2006/relationships/notesMaster" Target="/ppt/notesMasters/notesMaster1.xml" Id="Ra984beeedc8c45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d48a4d8bc34734" /><Relationship Type="http://schemas.openxmlformats.org/officeDocument/2006/relationships/notesMaster" Target="/ppt/notesMasters/notesMaster1.xml" Id="Rd851c0723a2641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a613d24b284d48" /><Relationship Type="http://schemas.openxmlformats.org/officeDocument/2006/relationships/notesMaster" Target="/ppt/notesMasters/notesMaster1.xml" Id="Radb3ca11afab45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bde096cd434ab0" /><Relationship Type="http://schemas.openxmlformats.org/officeDocument/2006/relationships/notesMaster" Target="/ppt/notesMasters/notesMaster1.xml" Id="Redbe442cd33540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f9345ba8694ce6" /><Relationship Type="http://schemas.openxmlformats.org/officeDocument/2006/relationships/notesMaster" Target="/ppt/notesMasters/notesMaster1.xml" Id="R018afe40f5e74f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751135acbe463e" /><Relationship Type="http://schemas.openxmlformats.org/officeDocument/2006/relationships/notesMaster" Target="/ppt/notesMasters/notesMaster1.xml" Id="Ra14648bc69b949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ambition: AI should be present where work happens, but it must remain evidence-backed and authority-aware. Echo is the first app, not a separate brand.</a:t>
            </a:r>
          </a:p>
          <a:p xmlns:a="http://schemas.openxmlformats.org/drawingml/2006/main">
            <a:r>
              <a:t/>
            </a:r>
          </a:p>
          <a:p xmlns:a="http://schemas.openxmlformats.org/drawingml/2006/main">
            <a:r>
              <a:t>[Sources]</a:t>
            </a:r>
          </a:p>
          <a:p xmlns:a="http://schemas.openxmlformats.org/drawingml/2006/main">
            <a:r>
              <a:t>- C:/Users/amirreza/Desktop/mvp/docs/PLATFORM-BRIEF.md</a:t>
            </a:r>
          </a:p>
          <a:p xmlns:a="http://schemas.openxmlformats.org/drawingml/2006/main">
            <a:r>
              <a:t>- C:/Users/amirreza/Desktop/mvp/docs/AI-NATIVE-PLAN.md</a:t>
            </a:r>
          </a:p>
          <a:p xmlns:a="http://schemas.openxmlformats.org/drawingml/2006/main">
            <a:r>
              <a:t>- C:/Users/amirreza/Desktop/mvp/ARCHITECTURE.md (M22, M33–M36)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organizational memory loss, not meeting inconvenience. The transcript must remain the source of truth and derived artifacts must carry provenance.</a:t>
            </a:r>
          </a:p>
          <a:p xmlns:a="http://schemas.openxmlformats.org/drawingml/2006/main">
            <a:r>
              <a:t/>
            </a:r>
          </a:p>
          <a:p xmlns:a="http://schemas.openxmlformats.org/drawingml/2006/main">
            <a:r>
              <a:t>[Sources]</a:t>
            </a:r>
          </a:p>
          <a:p xmlns:a="http://schemas.openxmlformats.org/drawingml/2006/main">
            <a:r>
              <a:t>- C:/Users/amirreza/Desktop/mvp/docs/SPEC.md</a:t>
            </a:r>
          </a:p>
          <a:p xmlns:a="http://schemas.openxmlformats.org/drawingml/2006/main">
            <a:r>
              <a:t>- C:/Users/amirreza/Desktop/mvp/ARCHITECTURE.md (invariants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audience from Capture to Act. Echo provides both the first customer outcome and the governed memory substrate future NeurAI Platform apps can reuse.</a:t>
            </a:r>
          </a:p>
          <a:p xmlns:a="http://schemas.openxmlformats.org/drawingml/2006/main">
            <a:r>
              <a:t/>
            </a:r>
          </a:p>
          <a:p xmlns:a="http://schemas.openxmlformats.org/drawingml/2006/main">
            <a:r>
              <a:t>[Sources]</a:t>
            </a:r>
          </a:p>
          <a:p xmlns:a="http://schemas.openxmlformats.org/drawingml/2006/main">
            <a:r>
              <a:t>- C:/Users/amirreza/Desktop/mvp/docs/PLATFORM-BRIEF.md</a:t>
            </a:r>
          </a:p>
          <a:p xmlns:a="http://schemas.openxmlformats.org/drawingml/2006/main">
            <a:r>
              <a:t>- C:/Users/amirreza/Desktop/mvp/docs/SPEC.md</a:t>
            </a:r>
          </a:p>
          <a:p xmlns:a="http://schemas.openxmlformats.org/drawingml/2006/main">
            <a:r>
              <a:t>- C:/Users/amirreza/Desktop/mvp/ARCHITECTURE.md (M1, M4, M22)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repository screenshots, not conceptual mockups. Show the hub as the shared NeurAI Platform surface and Echo capture as the first deep app experience.</a:t>
            </a:r>
          </a:p>
          <a:p xmlns:a="http://schemas.openxmlformats.org/drawingml/2006/main">
            <a:r>
              <a:t/>
            </a:r>
          </a:p>
          <a:p xmlns:a="http://schemas.openxmlformats.org/drawingml/2006/main">
            <a:r>
              <a:t>[Sources]</a:t>
            </a:r>
          </a:p>
          <a:p xmlns:a="http://schemas.openxmlformats.org/drawingml/2006/main">
            <a:r>
              <a:t>- C:/Users/amirreza/Desktop/mvp/docs/screenshots/hub-fa.png</a:t>
            </a:r>
          </a:p>
          <a:p xmlns:a="http://schemas.openxmlformats.org/drawingml/2006/main">
            <a:r>
              <a:t>- C:/Users/amirreza/Desktop/mvp/docs/screenshots/new-meeting-recording.png</a:t>
            </a:r>
          </a:p>
          <a:p xmlns:a="http://schemas.openxmlformats.org/drawingml/2006/main">
            <a:r>
              <a:t>- C:/Users/amirreza/Desktop/mvp/web/src/app/[locale]/page.tsx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platform vocabulary. Presence is where the assistant appears; hands are typed tools; signals are proactive events; autonomy controls when write effects require consent.</a:t>
            </a:r>
          </a:p>
          <a:p xmlns:a="http://schemas.openxmlformats.org/drawingml/2006/main">
            <a:r>
              <a:t/>
            </a:r>
          </a:p>
          <a:p xmlns:a="http://schemas.openxmlformats.org/drawingml/2006/main">
            <a:r>
              <a:t>[Sources]</a:t>
            </a:r>
          </a:p>
          <a:p xmlns:a="http://schemas.openxmlformats.org/drawingml/2006/main">
            <a:r>
              <a:t>- C:/Users/amirreza/Desktop/mvp/docs/AI-NATIVE-PLAN.md</a:t>
            </a:r>
          </a:p>
          <a:p xmlns:a="http://schemas.openxmlformats.org/drawingml/2006/main">
            <a:r>
              <a:t>- C:/Users/amirreza/Desktop/mvp/ARCHITECTURE.md (M33–M36)</a:t>
            </a:r>
          </a:p>
          <a:p xmlns:a="http://schemas.openxmlformats.org/drawingml/2006/main">
            <a:r>
              <a:t>- C:/Users/amirreza/Desktop/mvp/core/src/agent/client-tools.ts</a:t>
            </a:r>
          </a:p>
          <a:p xmlns:a="http://schemas.openxmlformats.org/drawingml/2006/main">
            <a:r>
              <a:t>- C:/Users/amirreza/Desktop/mvp/core/src/worker/signal-step.ts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authority boundaries, not every route. Browser uses the BFF. Core owns identity and control. Worker handles durable jobs. ML is stateless and productless. Supabase is the final data wall.</a:t>
            </a:r>
          </a:p>
          <a:p xmlns:a="http://schemas.openxmlformats.org/drawingml/2006/main">
            <a:r>
              <a:t/>
            </a:r>
          </a:p>
          <a:p xmlns:a="http://schemas.openxmlformats.org/drawingml/2006/main">
            <a:r>
              <a:t>[Sources]</a:t>
            </a:r>
          </a:p>
          <a:p xmlns:a="http://schemas.openxmlformats.org/drawingml/2006/main">
            <a:r>
              <a:t>- C:/Users/amirreza/Desktop/mvp/ARCHITECTURE.md (M1–M3, M7–M9, M12, M38)</a:t>
            </a:r>
          </a:p>
          <a:p xmlns:a="http://schemas.openxmlformats.org/drawingml/2006/main">
            <a:r>
              <a:t>- C:/Users/amirreza/Desktop/mvp/core/src/db/identity.ts</a:t>
            </a:r>
          </a:p>
          <a:p xmlns:a="http://schemas.openxmlformats.org/drawingml/2006/main">
            <a:r>
              <a:t>- C:/Users/amirreza/Desktop/mvp/core/src/worker/steps.ts</a:t>
            </a:r>
          </a:p>
          <a:p xmlns:a="http://schemas.openxmlformats.org/drawingml/2006/main">
            <a:r>
              <a:t>- C:/Users/amirreza/Desktop/mvp/ml/src/pipeline.ts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wall bottom-up. No database handle exists without an identity. RLS and database grants are the hard enforcement. Agent tools are centrally vetoed and consequential content writes are proposed first.</a:t>
            </a:r>
          </a:p>
          <a:p xmlns:a="http://schemas.openxmlformats.org/drawingml/2006/main">
            <a:r>
              <a:t/>
            </a:r>
          </a:p>
          <a:p xmlns:a="http://schemas.openxmlformats.org/drawingml/2006/main">
            <a:r>
              <a:t>[Sources]</a:t>
            </a:r>
          </a:p>
          <a:p xmlns:a="http://schemas.openxmlformats.org/drawingml/2006/main">
            <a:r>
              <a:t>- C:/Users/amirreza/Desktop/mvp/ARCHITECTURE.md (M3, M4, M10, M11)</a:t>
            </a:r>
          </a:p>
          <a:p xmlns:a="http://schemas.openxmlformats.org/drawingml/2006/main">
            <a:r>
              <a:t>- C:/Users/amirreza/Desktop/mvp/core/src/db/identity.ts</a:t>
            </a:r>
          </a:p>
          <a:p xmlns:a="http://schemas.openxmlformats.org/drawingml/2006/main">
            <a:r>
              <a:t>- C:/Users/amirreza/Desktop/mvp/core/src/agent/runtime.ts</a:t>
            </a:r>
          </a:p>
          <a:p xmlns:a="http://schemas.openxmlformats.org/drawingml/2006/main">
            <a:r>
              <a:t>- C:/Users/amirreza/Desktop/mvp/core/src/agent/policy.ts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timing ladder as the technical proof of honest degradation. Persian-first also includes RTL, normalization, glossary bias, mixed-language hints, voice enrollment, and Jalali-capable display.</a:t>
            </a:r>
          </a:p>
          <a:p xmlns:a="http://schemas.openxmlformats.org/drawingml/2006/main">
            <a:r>
              <a:t/>
            </a:r>
          </a:p>
          <a:p xmlns:a="http://schemas.openxmlformats.org/drawingml/2006/main">
            <a:r>
              <a:t>[Sources]</a:t>
            </a:r>
          </a:p>
          <a:p xmlns:a="http://schemas.openxmlformats.org/drawingml/2006/main">
            <a:r>
              <a:t>- C:/Users/amirreza/Desktop/mvp/ARCHITECTURE.md (M6, M19, M20, M37–M40)</a:t>
            </a:r>
          </a:p>
          <a:p xmlns:a="http://schemas.openxmlformats.org/drawingml/2006/main">
            <a:r>
              <a:t>- C:/Users/amirreza/Desktop/mvp/ml/src/pipeline.ts</a:t>
            </a:r>
          </a:p>
          <a:p xmlns:a="http://schemas.openxmlformats.org/drawingml/2006/main">
            <a:r>
              <a:t>- C:/Users/amirreza/Desktop/mvp/core/src/worker/transcript-mapping.ts</a:t>
            </a:r>
          </a:p>
          <a:p xmlns:a="http://schemas.openxmlformats.org/drawingml/2006/main">
            <a:r>
              <a:t>- C:/Users/amirreza/Desktop/mvp/core/src/worker/voice-match.ts</a:t>
            </a:r>
          </a:p>
          <a:p xmlns:a="http://schemas.openxmlformats.org/drawingml/2006/main">
            <a:r>
              <a:t>- C:/Users/amirreza/Desktop/mvp/docs/screenshots/speakers-enrollment.png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Acknowledge competitor strengths. The comparison is public positioning, not an independent accuracy or security benchmark. The differentiators are Persian-first depth, authority-aware action, and the broader platform thesis.</a:t>
            </a:r>
          </a:p>
          <a:p xmlns:a="http://schemas.openxmlformats.org/drawingml/2006/main">
            <a:r>
              <a:t/>
            </a:r>
          </a:p>
          <a:p xmlns:a="http://schemas.openxmlformats.org/drawingml/2006/main">
            <a:r>
              <a:t>[Sources]</a:t>
            </a:r>
          </a:p>
          <a:p xmlns:a="http://schemas.openxmlformats.org/drawingml/2006/main">
            <a:r>
              <a:t>- https://www.gong.io/conversation-intelligence</a:t>
            </a:r>
          </a:p>
          <a:p xmlns:a="http://schemas.openxmlformats.org/drawingml/2006/main">
            <a:r>
              <a:t>- https://otter.ai/</a:t>
            </a:r>
          </a:p>
          <a:p xmlns:a="http://schemas.openxmlformats.org/drawingml/2006/main">
            <a:r>
              <a:t>- https://help.otter.ai/hc/en-us/articles/26660468516631-Transcribe-conversations-in-English-Spanish-French-German-Japanese-or-Chinese-Simplified</a:t>
            </a:r>
          </a:p>
          <a:p xmlns:a="http://schemas.openxmlformats.org/drawingml/2006/main">
            <a:r>
              <a:t>- https://fireflies.ai/</a:t>
            </a:r>
          </a:p>
          <a:p xmlns:a="http://schemas.openxmlformats.org/drawingml/2006/main">
            <a:r>
              <a:t>- https://docs.fireflies.ai/askfred/overview</a:t>
            </a:r>
          </a:p>
          <a:p xmlns:a="http://schemas.openxmlformats.org/drawingml/2006/main">
            <a:r>
              <a:t>- C:/Users/amirreza/Desktop/mvp/docs/PLATFORM-BRIEF.md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disciplined ambition. Echo proves the substrate. Future apps reuse identity, memory, tools, connectors, and audit instead of forking them.</a:t>
            </a:r>
          </a:p>
          <a:p xmlns:a="http://schemas.openxmlformats.org/drawingml/2006/main">
            <a:r>
              <a:t/>
            </a:r>
          </a:p>
          <a:p xmlns:a="http://schemas.openxmlformats.org/drawingml/2006/main">
            <a:r>
              <a:t>[Sources]</a:t>
            </a:r>
          </a:p>
          <a:p xmlns:a="http://schemas.openxmlformats.org/drawingml/2006/main">
            <a:r>
              <a:t>- C:/Users/amirreza/Desktop/mvp/docs/PLATFORM-BRIEF.md</a:t>
            </a:r>
          </a:p>
          <a:p xmlns:a="http://schemas.openxmlformats.org/drawingml/2006/main">
            <a:r>
              <a:t>- C:/Users/amirreza/Desktop/mvp/docs/AI-NATIVE-PLAN.md</a:t>
            </a:r>
          </a:p>
          <a:p xmlns:a="http://schemas.openxmlformats.org/drawingml/2006/main">
            <a:r>
              <a:t>- C:/Users/amirreza/Desktop/mvp/ARCHITECTURE.md (M22, M30–M36)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47d390ae5240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369ba639ab48bd" /><Relationship Type="http://schemas.openxmlformats.org/officeDocument/2006/relationships/slideLayout" Target="/ppt/slideLayouts/slideLayout1.xml" Id="Rbd60ae1538684e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60ae1538684e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c5251f89524218" /><Relationship Type="http://schemas.openxmlformats.org/officeDocument/2006/relationships/image" Target="/ppt/media/image.png" Id="R16659ad3f32b44db" /><Relationship Type="http://schemas.openxmlformats.org/officeDocument/2006/relationships/image" Target="/ppt/media/image2.png" Id="R209ff311a2434bd8" /><Relationship Type="http://schemas.openxmlformats.org/officeDocument/2006/relationships/notesSlide" Target="/ppt/notesSlides/notesSlide1.xml" Id="R9f07b5fa9aa547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7e384ae61b43ab" /><Relationship Type="http://schemas.openxmlformats.org/officeDocument/2006/relationships/notesSlide" Target="/ppt/notesSlides/notesSlide2.xml" Id="R7e23b444db2143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c26fb4d3f5488b" /><Relationship Type="http://schemas.openxmlformats.org/officeDocument/2006/relationships/notesSlide" Target="/ppt/notesSlides/notesSlide3.xml" Id="R40c298ebe36349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bbc633f0d441e0" /><Relationship Type="http://schemas.openxmlformats.org/officeDocument/2006/relationships/image" Target="/ppt/media/image3.png" Id="R98b4e172ea4249bc" /><Relationship Type="http://schemas.openxmlformats.org/officeDocument/2006/relationships/image" Target="/ppt/media/image4.png" Id="Rb4df3d8a767742dd" /><Relationship Type="http://schemas.openxmlformats.org/officeDocument/2006/relationships/notesSlide" Target="/ppt/notesSlides/notesSlide4.xml" Id="R074e631c18cb4d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3bf5c070834e07" /><Relationship Type="http://schemas.openxmlformats.org/officeDocument/2006/relationships/notesSlide" Target="/ppt/notesSlides/notesSlide5.xml" Id="Rfd045f81c82348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a5135b3f2f42f1" /><Relationship Type="http://schemas.openxmlformats.org/officeDocument/2006/relationships/notesSlide" Target="/ppt/notesSlides/notesSlide6.xml" Id="R5c15b998931f4d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10a0f66af445ab" /><Relationship Type="http://schemas.openxmlformats.org/officeDocument/2006/relationships/notesSlide" Target="/ppt/notesSlides/notesSlide7.xml" Id="R2e378e91545043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970f4870e845c6" /><Relationship Type="http://schemas.openxmlformats.org/officeDocument/2006/relationships/image" Target="/ppt/media/image5.png" Id="R4572fea215884f6f" /><Relationship Type="http://schemas.openxmlformats.org/officeDocument/2006/relationships/notesSlide" Target="/ppt/notesSlides/notesSlide8.xml" Id="R62609df357554f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aa27e27bf743cb" /><Relationship Type="http://schemas.openxmlformats.org/officeDocument/2006/relationships/notesSlide" Target="/ppt/notesSlides/notesSlide9.xml" Id="R2c5b0b47159b4e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e303914332b4bcc" /><Relationship Type="http://schemas.openxmlformats.org/officeDocument/2006/relationships/notesSlide" Target="/ppt/notesSlides/notesSlide10.xml" Id="R252518ccd0e34380" /></Relationships>
</file>

<file path=ppt/slides/slide1.xml><?xml version="1.0" encoding="utf-8"?>
<p:sld xmlns:p="http://schemas.openxmlformats.org/presentationml/2006/main">
  <p:cSld>
    <p:bg>
      <p:bgPr>
        <a:solidFill xmlns:a="http://schemas.openxmlformats.org/drawingml/2006/main">
          <a:srgbClr val="0C0922"/>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6659ad3f32b44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A278B4-8550-4DB5-9AC3-EB71EF3F08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C831321-13F1-486F-A48C-851E7C68D01C}"/>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09ff311a2434bd8"/>
          <a:stretch xmlns:a="http://schemas.openxmlformats.org/drawingml/2006/main"/>
        </p:blipFill>
        <p:spPr>
          <a:xfrm xmlns:a="http://schemas.openxmlformats.org/drawingml/2006/main">
            <a:off x="628650" y="533400"/>
            <a:ext cx="723900" cy="723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61F778-7AB9-4B4B-9B9A-B313216C6D1C}"/>
              </a:ext>
            </a:extLst>
          </p:cNvPr>
          <p:cNvSpPr>
            <a:spLocks xmlns:a="http://schemas.openxmlformats.org/drawingml/2006/main" noGrp="1"/>
          </p:cNvSpPr>
          <p:nvPr/>
        </p:nvSpPr>
        <p:spPr>
          <a:xfrm xmlns:a="http://schemas.openxmlformats.org/drawingml/2006/main">
            <a:off x="628650" y="14478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B6DFF"/>
                </a:solidFill>
              </a:defRPr>
            </a:pPr>
            <a:r>
              <a:rPr sz="1125" b="1">
                <a:solidFill>
                  <a:srgbClr val="9B6DFF"/>
                </a:solidFill>
              </a:rPr>
              <a:t>NEURAI PLATFORM</a:t>
            </a:r>
          </a:p>
        </p:txBody>
      </p:sp>
      <p:sp>
        <p:nvSpPr>
          <p:cNvPr id="6" name="">
            <a:extLst xmlns:a="http://schemas.openxmlformats.org/drawingml/2006/main">
              <a:ext uri="{FF2B5EF4-FFF2-40B4-BE49-F238E27FC236}">
                <a16:creationId xmlns:a16="http://schemas.microsoft.com/office/drawing/2014/main" id="{01A76CC4-1654-4FD1-9E03-C2D168C82FB8}"/>
              </a:ext>
            </a:extLst>
          </p:cNvPr>
          <p:cNvSpPr>
            <a:spLocks xmlns:a="http://schemas.openxmlformats.org/drawingml/2006/main" noGrp="1"/>
          </p:cNvSpPr>
          <p:nvPr/>
        </p:nvSpPr>
        <p:spPr>
          <a:xfrm xmlns:a="http://schemas.openxmlformats.org/drawingml/2006/main">
            <a:off x="628650" y="1924050"/>
            <a:ext cx="5619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75" b="1">
                <a:solidFill>
                  <a:srgbClr val="FFFFFF"/>
                </a:solidFill>
              </a:defRPr>
            </a:pPr>
            <a:r>
              <a:rPr sz="3975" b="1">
                <a:solidFill>
                  <a:srgbClr val="FFFFFF"/>
                </a:solidFill>
              </a:rPr>
              <a:t>AI that is present</a:t>
            </a:r>
          </a:p>
          <a:p xmlns:a="http://schemas.openxmlformats.org/drawingml/2006/main">
            <a:pPr algn="l">
              <a:defRPr sz="3975" b="1">
                <a:solidFill>
                  <a:srgbClr val="FFFFFF"/>
                </a:solidFill>
              </a:defRPr>
            </a:pPr>
            <a:r>
              <a:rPr sz="3975" b="1">
                <a:solidFill>
                  <a:srgbClr val="FFFFFF"/>
                </a:solidFill>
              </a:rPr>
              <a:t>before it is prompted</a:t>
            </a:r>
          </a:p>
        </p:txBody>
      </p:sp>
      <p:sp>
        <p:nvSpPr>
          <p:cNvPr id="7" name="">
            <a:extLst xmlns:a="http://schemas.openxmlformats.org/drawingml/2006/main">
              <a:ext uri="{FF2B5EF4-FFF2-40B4-BE49-F238E27FC236}">
                <a16:creationId xmlns:a16="http://schemas.microsoft.com/office/drawing/2014/main" id="{D0F635D2-829E-4D02-AB17-8B628B9CBAD6}"/>
              </a:ext>
            </a:extLst>
          </p:cNvPr>
          <p:cNvSpPr>
            <a:spLocks xmlns:a="http://schemas.openxmlformats.org/drawingml/2006/main" noGrp="1"/>
          </p:cNvSpPr>
          <p:nvPr/>
        </p:nvSpPr>
        <p:spPr>
          <a:xfrm xmlns:a="http://schemas.openxmlformats.org/drawingml/2006/main">
            <a:off x="666750" y="3905250"/>
            <a:ext cx="514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DED7F2"/>
                </a:solidFill>
              </a:defRPr>
            </a:pPr>
            <a:r>
              <a:rPr sz="1725" b="0">
                <a:solidFill>
                  <a:srgbClr val="DED7F2"/>
                </a:solidFill>
              </a:rPr>
              <a:t>The Persian-first operating surface for</a:t>
            </a:r>
          </a:p>
          <a:p xmlns:a="http://schemas.openxmlformats.org/drawingml/2006/main">
            <a:pPr algn="l">
              <a:defRPr sz="1725" b="0">
                <a:solidFill>
                  <a:srgbClr val="DED7F2"/>
                </a:solidFill>
              </a:defRPr>
            </a:pPr>
            <a:r>
              <a:rPr sz="1725" b="0">
                <a:solidFill>
                  <a:srgbClr val="DED7F2"/>
                </a:solidFill>
              </a:rPr>
              <a:t>organizational memory—beginning with Echo</a:t>
            </a:r>
          </a:p>
        </p:txBody>
      </p:sp>
      <p:sp>
        <p:nvSpPr>
          <p:cNvPr id="8" name="">
            <a:extLst xmlns:a="http://schemas.openxmlformats.org/drawingml/2006/main">
              <a:ext uri="{FF2B5EF4-FFF2-40B4-BE49-F238E27FC236}">
                <a16:creationId xmlns:a16="http://schemas.microsoft.com/office/drawing/2014/main" id="{7A20471D-EA1B-4D55-A3FD-9AF123C3C166}"/>
              </a:ext>
            </a:extLst>
          </p:cNvPr>
          <p:cNvSpPr>
            <a:spLocks xmlns:a="http://schemas.openxmlformats.org/drawingml/2006/main" noGrp="1"/>
          </p:cNvSpPr>
          <p:nvPr/>
        </p:nvSpPr>
        <p:spPr>
          <a:xfrm xmlns:a="http://schemas.openxmlformats.org/drawingml/2006/main">
            <a:off x="666750" y="5143500"/>
            <a:ext cx="4438650" cy="323850"/>
          </a:xfrm>
          <a:prstGeom xmlns:a="http://schemas.openxmlformats.org/drawingml/2006/main" prst="roundRect">
            <a:avLst>
              <a:gd name="adj" fmla="val 50000"/>
            </a:avLst>
          </a:prstGeom>
          <a:solidFill xmlns:a="http://schemas.openxmlformats.org/drawingml/2006/main">
            <a:srgbClr val="EEE7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130B90-DBBA-4662-9B82-2C523359E170}"/>
              </a:ext>
            </a:extLst>
          </p:cNvPr>
          <p:cNvSpPr>
            <a:spLocks xmlns:a="http://schemas.openxmlformats.org/drawingml/2006/main" noGrp="1"/>
          </p:cNvSpPr>
          <p:nvPr/>
        </p:nvSpPr>
        <p:spPr>
          <a:xfrm xmlns:a="http://schemas.openxmlformats.org/drawingml/2006/main">
            <a:off x="762000" y="5172075"/>
            <a:ext cx="424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6F43E7"/>
                </a:solidFill>
              </a:defRPr>
            </a:pPr>
            <a:r>
              <a:rPr sz="1050" b="1">
                <a:solidFill>
                  <a:srgbClr val="6F43E7"/>
                </a:solidFill>
              </a:rPr>
              <a:t>PRESENT  ·  EVIDENCE-BACKED  ·  AUTHORITY-AWARE</a:t>
            </a:r>
          </a:p>
        </p:txBody>
      </p:sp>
      <p:sp>
        <p:nvSpPr>
          <p:cNvPr id="10" name="">
            <a:extLst xmlns:a="http://schemas.openxmlformats.org/drawingml/2006/main">
              <a:ext uri="{FF2B5EF4-FFF2-40B4-BE49-F238E27FC236}">
                <a16:creationId xmlns:a16="http://schemas.microsoft.com/office/drawing/2014/main" id="{5F39BDC9-7EAB-4558-BC86-14E8DFD039BF}"/>
              </a:ext>
            </a:extLst>
          </p:cNvPr>
          <p:cNvSpPr>
            <a:spLocks xmlns:a="http://schemas.openxmlformats.org/drawingml/2006/main" noGrp="1"/>
          </p:cNvSpPr>
          <p:nvPr/>
        </p:nvSpPr>
        <p:spPr>
          <a:xfrm xmlns:a="http://schemas.openxmlformats.org/drawingml/2006/main">
            <a:off x="666750" y="591502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A0C2"/>
                </a:solidFill>
              </a:defRPr>
            </a:pPr>
            <a:r>
              <a:rPr sz="975" b="0">
                <a:solidFill>
                  <a:srgbClr val="AAA0C2"/>
                </a:solidFill>
              </a:rPr>
              <a:t>Executive product &amp; architecture demo  ·  August 2026</a:t>
            </a:r>
          </a:p>
        </p:txBody>
      </p:sp>
    </p:spTree>
    <p:extLst>
      <p:ext uri="{BB962C8B-B14F-4D97-AF65-F5344CB8AC3E}">
        <p14:creationId xmlns:p14="http://schemas.microsoft.com/office/powerpoint/2010/main" val="1575140812"/>
      </p:ext>
    </p:extLst>
  </p:cSld>
</p:sld>
</file>

<file path=ppt/slides/slide2.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0D0F496-9E58-49E7-B0B3-BF5EDBF96F6D}"/>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43E7"/>
                </a:solidFill>
              </a:defRPr>
            </a:pPr>
            <a:r>
              <a:rPr sz="975" b="1">
                <a:solidFill>
                  <a:srgbClr val="6F43E7"/>
                </a:solidFill>
              </a:rPr>
              <a:t>THE PROBLEM</a:t>
            </a:r>
          </a:p>
        </p:txBody>
      </p:sp>
      <p:sp>
        <p:nvSpPr>
          <p:cNvPr id="2" name="">
            <a:extLst xmlns:a="http://schemas.openxmlformats.org/drawingml/2006/main">
              <a:ext uri="{FF2B5EF4-FFF2-40B4-BE49-F238E27FC236}">
                <a16:creationId xmlns:a16="http://schemas.microsoft.com/office/drawing/2014/main" id="{7F4A5D9A-4F92-42A1-AC0B-BC7C2D4D231F}"/>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81424"/>
                </a:solidFill>
              </a:defRPr>
            </a:pPr>
            <a:r>
              <a:rPr sz="2850" b="1">
                <a:solidFill>
                  <a:srgbClr val="181424"/>
                </a:solidFill>
              </a:rPr>
              <a:t>Truth is created in conversation—and disappears into fragments</a:t>
            </a:r>
          </a:p>
        </p:txBody>
      </p:sp>
      <p:sp>
        <p:nvSpPr>
          <p:cNvPr id="3" name="">
            <a:extLst xmlns:a="http://schemas.openxmlformats.org/drawingml/2006/main">
              <a:ext uri="{FF2B5EF4-FFF2-40B4-BE49-F238E27FC236}">
                <a16:creationId xmlns:a16="http://schemas.microsoft.com/office/drawing/2014/main" id="{6573C86D-E74B-4172-8A97-3FB5FFE8A85B}"/>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716A7C"/>
                </a:solidFill>
              </a:defRPr>
            </a:pPr>
            <a:r>
              <a:rPr sz="1350" b="0">
                <a:solidFill>
                  <a:srgbClr val="716A7C"/>
                </a:solidFill>
              </a:rPr>
              <a:t>Organizations lose source, ownership, continuity, and follow-through.</a:t>
            </a:r>
          </a:p>
        </p:txBody>
      </p:sp>
      <p:sp>
        <p:nvSpPr>
          <p:cNvPr id="4" name="">
            <a:extLst xmlns:a="http://schemas.openxmlformats.org/drawingml/2006/main">
              <a:ext uri="{FF2B5EF4-FFF2-40B4-BE49-F238E27FC236}">
                <a16:creationId xmlns:a16="http://schemas.microsoft.com/office/drawing/2014/main" id="{A95545E6-8CA0-496D-AB39-4E2B2E470E53}"/>
              </a:ext>
            </a:extLst>
          </p:cNvPr>
          <p:cNvSpPr>
            <a:spLocks xmlns:a="http://schemas.openxmlformats.org/drawingml/2006/main" noGrp="1"/>
          </p:cNvSpPr>
          <p:nvPr/>
        </p:nvSpPr>
        <p:spPr>
          <a:xfrm xmlns:a="http://schemas.openxmlformats.org/drawingml/2006/main">
            <a:off x="609600" y="2333625"/>
            <a:ext cx="2533650" cy="2571750"/>
          </a:xfrm>
          <a:prstGeom xmlns:a="http://schemas.openxmlformats.org/drawingml/2006/main" prst="roundRect">
            <a:avLst>
              <a:gd name="adj" fmla="val 6015"/>
            </a:avLst>
          </a:prstGeom>
          <a:solidFill xmlns:a="http://schemas.openxmlformats.org/drawingml/2006/main">
            <a:srgbClr val="FFF0ED"/>
          </a:solidFill>
          <a:ln xmlns:a="http://schemas.openxmlformats.org/drawingml/2006/main" w="9525">
            <a:solidFill>
              <a:srgbClr val="DDD7E5"/>
            </a:solidFill>
            <a:prstDash val="solid"/>
          </a:ln>
        </p:spPr>
      </p:sp>
      <p:sp>
        <p:nvSpPr>
          <p:cNvPr id="5" name="">
            <a:extLst xmlns:a="http://schemas.openxmlformats.org/drawingml/2006/main">
              <a:ext uri="{FF2B5EF4-FFF2-40B4-BE49-F238E27FC236}">
                <a16:creationId xmlns:a16="http://schemas.microsoft.com/office/drawing/2014/main" id="{785A9C48-02C4-40FD-A350-8463686604CE}"/>
              </a:ext>
            </a:extLst>
          </p:cNvPr>
          <p:cNvSpPr>
            <a:spLocks xmlns:a="http://schemas.openxmlformats.org/drawingml/2006/main" noGrp="1"/>
          </p:cNvSpPr>
          <p:nvPr/>
        </p:nvSpPr>
        <p:spPr>
          <a:xfrm xmlns:a="http://schemas.openxmlformats.org/drawingml/2006/main">
            <a:off x="781050" y="2505075"/>
            <a:ext cx="361950" cy="3619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286841-5299-4A30-A409-1A6B8F1A43C1}"/>
              </a:ext>
            </a:extLst>
          </p:cNvPr>
          <p:cNvSpPr>
            <a:spLocks xmlns:a="http://schemas.openxmlformats.org/drawingml/2006/main" noGrp="1"/>
          </p:cNvSpPr>
          <p:nvPr/>
        </p:nvSpPr>
        <p:spPr>
          <a:xfrm xmlns:a="http://schemas.openxmlformats.org/drawingml/2006/main">
            <a:off x="781050" y="25336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FFFFFF"/>
                </a:solidFill>
              </a:defRPr>
            </a:pPr>
            <a:r>
              <a:rPr sz="1125" b="1">
                <a:solidFill>
                  <a:srgbClr val="FFFFFF"/>
                </a:solidFill>
              </a:rPr>
              <a:t>01</a:t>
            </a:r>
          </a:p>
        </p:txBody>
      </p:sp>
      <p:sp>
        <p:nvSpPr>
          <p:cNvPr id="7" name="">
            <a:extLst xmlns:a="http://schemas.openxmlformats.org/drawingml/2006/main">
              <a:ext uri="{FF2B5EF4-FFF2-40B4-BE49-F238E27FC236}">
                <a16:creationId xmlns:a16="http://schemas.microsoft.com/office/drawing/2014/main" id="{AC8450AB-751F-4B8E-A9D5-05BCB079C02D}"/>
              </a:ext>
            </a:extLst>
          </p:cNvPr>
          <p:cNvSpPr>
            <a:spLocks xmlns:a="http://schemas.openxmlformats.org/drawingml/2006/main" noGrp="1"/>
          </p:cNvSpPr>
          <p:nvPr/>
        </p:nvSpPr>
        <p:spPr>
          <a:xfrm xmlns:a="http://schemas.openxmlformats.org/drawingml/2006/main">
            <a:off x="1295400" y="2505075"/>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Source</a:t>
            </a:r>
          </a:p>
        </p:txBody>
      </p:sp>
      <p:sp>
        <p:nvSpPr>
          <p:cNvPr id="8" name="">
            <a:extLst xmlns:a="http://schemas.openxmlformats.org/drawingml/2006/main">
              <a:ext uri="{FF2B5EF4-FFF2-40B4-BE49-F238E27FC236}">
                <a16:creationId xmlns:a16="http://schemas.microsoft.com/office/drawing/2014/main" id="{B79A4D30-9B78-409C-AEFB-EF233244916B}"/>
              </a:ext>
            </a:extLst>
          </p:cNvPr>
          <p:cNvSpPr>
            <a:spLocks xmlns:a="http://schemas.openxmlformats.org/drawingml/2006/main" noGrp="1"/>
          </p:cNvSpPr>
          <p:nvPr/>
        </p:nvSpPr>
        <p:spPr>
          <a:xfrm xmlns:a="http://schemas.openxmlformats.org/drawingml/2006/main">
            <a:off x="781050" y="2981325"/>
            <a:ext cx="21907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716A7C"/>
                </a:solidFill>
              </a:defRPr>
            </a:pPr>
            <a:r>
              <a:rPr sz="1163" b="0">
                <a:solidFill>
                  <a:srgbClr val="716A7C"/>
                </a:solidFill>
              </a:rPr>
              <a:t>Notes drift away from the moment and the speaker who created them.</a:t>
            </a:r>
          </a:p>
        </p:txBody>
      </p:sp>
      <p:sp>
        <p:nvSpPr>
          <p:cNvPr id="9" name="">
            <a:extLst xmlns:a="http://schemas.openxmlformats.org/drawingml/2006/main">
              <a:ext uri="{FF2B5EF4-FFF2-40B4-BE49-F238E27FC236}">
                <a16:creationId xmlns:a16="http://schemas.microsoft.com/office/drawing/2014/main" id="{6AD31D2A-0455-4145-A031-096916F4EBF1}"/>
              </a:ext>
            </a:extLst>
          </p:cNvPr>
          <p:cNvSpPr>
            <a:spLocks xmlns:a="http://schemas.openxmlformats.org/drawingml/2006/main" noGrp="1"/>
          </p:cNvSpPr>
          <p:nvPr/>
        </p:nvSpPr>
        <p:spPr>
          <a:xfrm xmlns:a="http://schemas.openxmlformats.org/drawingml/2006/main">
            <a:off x="3333750" y="2333625"/>
            <a:ext cx="2533650" cy="2571750"/>
          </a:xfrm>
          <a:prstGeom xmlns:a="http://schemas.openxmlformats.org/drawingml/2006/main" prst="roundRect">
            <a:avLst>
              <a:gd name="adj" fmla="val 6015"/>
            </a:avLst>
          </a:prstGeom>
          <a:solidFill xmlns:a="http://schemas.openxmlformats.org/drawingml/2006/main">
            <a:srgbClr val="EEE7FF"/>
          </a:solidFill>
          <a:ln xmlns:a="http://schemas.openxmlformats.org/drawingml/2006/main" w="9525">
            <a:solidFill>
              <a:srgbClr val="DDD7E5"/>
            </a:solidFill>
            <a:prstDash val="solid"/>
          </a:ln>
        </p:spPr>
      </p:sp>
      <p:sp>
        <p:nvSpPr>
          <p:cNvPr id="10" name="">
            <a:extLst xmlns:a="http://schemas.openxmlformats.org/drawingml/2006/main">
              <a:ext uri="{FF2B5EF4-FFF2-40B4-BE49-F238E27FC236}">
                <a16:creationId xmlns:a16="http://schemas.microsoft.com/office/drawing/2014/main" id="{65AFA19C-16C6-49BC-8757-4E2B6AB8DF75}"/>
              </a:ext>
            </a:extLst>
          </p:cNvPr>
          <p:cNvSpPr>
            <a:spLocks xmlns:a="http://schemas.openxmlformats.org/drawingml/2006/main" noGrp="1"/>
          </p:cNvSpPr>
          <p:nvPr/>
        </p:nvSpPr>
        <p:spPr>
          <a:xfrm xmlns:a="http://schemas.openxmlformats.org/drawingml/2006/main">
            <a:off x="3505200" y="2505075"/>
            <a:ext cx="361950" cy="361950"/>
          </a:xfrm>
          <a:prstGeom xmlns:a="http://schemas.openxmlformats.org/drawingml/2006/main" prst="roundRect">
            <a:avLst>
              <a:gd name="adj" fmla="val 50000"/>
            </a:avLst>
          </a:prstGeom>
          <a:solidFill xmlns:a="http://schemas.openxmlformats.org/drawingml/2006/main">
            <a:srgbClr val="6F43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1836FD3-C5D3-4FD9-A8E4-F7EEDB5CC41A}"/>
              </a:ext>
            </a:extLst>
          </p:cNvPr>
          <p:cNvSpPr>
            <a:spLocks xmlns:a="http://schemas.openxmlformats.org/drawingml/2006/main" noGrp="1"/>
          </p:cNvSpPr>
          <p:nvPr/>
        </p:nvSpPr>
        <p:spPr>
          <a:xfrm xmlns:a="http://schemas.openxmlformats.org/drawingml/2006/main">
            <a:off x="3505200" y="25336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FFFFFF"/>
                </a:solidFill>
              </a:defRPr>
            </a:pPr>
            <a:r>
              <a:rPr sz="1125" b="1">
                <a:solidFill>
                  <a:srgbClr val="FFFFFF"/>
                </a:solidFill>
              </a:rPr>
              <a:t>02</a:t>
            </a:r>
          </a:p>
        </p:txBody>
      </p:sp>
      <p:sp>
        <p:nvSpPr>
          <p:cNvPr id="12" name="">
            <a:extLst xmlns:a="http://schemas.openxmlformats.org/drawingml/2006/main">
              <a:ext uri="{FF2B5EF4-FFF2-40B4-BE49-F238E27FC236}">
                <a16:creationId xmlns:a16="http://schemas.microsoft.com/office/drawing/2014/main" id="{D6A3DAB9-441A-454A-B862-ECC90EEBFC8A}"/>
              </a:ext>
            </a:extLst>
          </p:cNvPr>
          <p:cNvSpPr>
            <a:spLocks xmlns:a="http://schemas.openxmlformats.org/drawingml/2006/main" noGrp="1"/>
          </p:cNvSpPr>
          <p:nvPr/>
        </p:nvSpPr>
        <p:spPr>
          <a:xfrm xmlns:a="http://schemas.openxmlformats.org/drawingml/2006/main">
            <a:off x="4019550" y="2505075"/>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Ownership</a:t>
            </a:r>
          </a:p>
        </p:txBody>
      </p:sp>
      <p:sp>
        <p:nvSpPr>
          <p:cNvPr id="13" name="">
            <a:extLst xmlns:a="http://schemas.openxmlformats.org/drawingml/2006/main">
              <a:ext uri="{FF2B5EF4-FFF2-40B4-BE49-F238E27FC236}">
                <a16:creationId xmlns:a16="http://schemas.microsoft.com/office/drawing/2014/main" id="{41A9A918-221F-465E-8BFF-359DF77F44F0}"/>
              </a:ext>
            </a:extLst>
          </p:cNvPr>
          <p:cNvSpPr>
            <a:spLocks xmlns:a="http://schemas.openxmlformats.org/drawingml/2006/main" noGrp="1"/>
          </p:cNvSpPr>
          <p:nvPr/>
        </p:nvSpPr>
        <p:spPr>
          <a:xfrm xmlns:a="http://schemas.openxmlformats.org/drawingml/2006/main">
            <a:off x="3505200" y="2981325"/>
            <a:ext cx="21907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716A7C"/>
                </a:solidFill>
              </a:defRPr>
            </a:pPr>
            <a:r>
              <a:rPr sz="1163" b="0">
                <a:solidFill>
                  <a:srgbClr val="716A7C"/>
                </a:solidFill>
              </a:rPr>
              <a:t>Generic AI sees copied context, not the caller’s real authority.</a:t>
            </a:r>
          </a:p>
        </p:txBody>
      </p:sp>
      <p:sp>
        <p:nvSpPr>
          <p:cNvPr id="14" name="">
            <a:extLst xmlns:a="http://schemas.openxmlformats.org/drawingml/2006/main">
              <a:ext uri="{FF2B5EF4-FFF2-40B4-BE49-F238E27FC236}">
                <a16:creationId xmlns:a16="http://schemas.microsoft.com/office/drawing/2014/main" id="{7B8BCA3D-2AAA-48F3-A9D7-8271309CF193}"/>
              </a:ext>
            </a:extLst>
          </p:cNvPr>
          <p:cNvSpPr>
            <a:spLocks xmlns:a="http://schemas.openxmlformats.org/drawingml/2006/main" noGrp="1"/>
          </p:cNvSpPr>
          <p:nvPr/>
        </p:nvSpPr>
        <p:spPr>
          <a:xfrm xmlns:a="http://schemas.openxmlformats.org/drawingml/2006/main">
            <a:off x="6057900" y="2333625"/>
            <a:ext cx="2533650" cy="2571750"/>
          </a:xfrm>
          <a:prstGeom xmlns:a="http://schemas.openxmlformats.org/drawingml/2006/main" prst="roundRect">
            <a:avLst>
              <a:gd name="adj" fmla="val 6015"/>
            </a:avLst>
          </a:prstGeom>
          <a:solidFill xmlns:a="http://schemas.openxmlformats.org/drawingml/2006/main">
            <a:srgbClr val="EAF9FF"/>
          </a:solidFill>
          <a:ln xmlns:a="http://schemas.openxmlformats.org/drawingml/2006/main" w="9525">
            <a:solidFill>
              <a:srgbClr val="DDD7E5"/>
            </a:solidFill>
            <a:prstDash val="solid"/>
          </a:ln>
        </p:spPr>
      </p:sp>
      <p:sp>
        <p:nvSpPr>
          <p:cNvPr id="15" name="">
            <a:extLst xmlns:a="http://schemas.openxmlformats.org/drawingml/2006/main">
              <a:ext uri="{FF2B5EF4-FFF2-40B4-BE49-F238E27FC236}">
                <a16:creationId xmlns:a16="http://schemas.microsoft.com/office/drawing/2014/main" id="{4F1E79A6-9426-4A2F-854F-735EAD4D300A}"/>
              </a:ext>
            </a:extLst>
          </p:cNvPr>
          <p:cNvSpPr>
            <a:spLocks xmlns:a="http://schemas.openxmlformats.org/drawingml/2006/main" noGrp="1"/>
          </p:cNvSpPr>
          <p:nvPr/>
        </p:nvSpPr>
        <p:spPr>
          <a:xfrm xmlns:a="http://schemas.openxmlformats.org/drawingml/2006/main">
            <a:off x="6229350" y="2505075"/>
            <a:ext cx="361950" cy="361950"/>
          </a:xfrm>
          <a:prstGeom xmlns:a="http://schemas.openxmlformats.org/drawingml/2006/main" prst="roundRect">
            <a:avLst>
              <a:gd name="adj" fmla="val 50000"/>
            </a:avLst>
          </a:prstGeom>
          <a:solidFill xmlns:a="http://schemas.openxmlformats.org/drawingml/2006/main">
            <a:srgbClr val="63D8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4DBB739-9CDA-4859-96F1-B33627B378DF}"/>
              </a:ext>
            </a:extLst>
          </p:cNvPr>
          <p:cNvSpPr>
            <a:spLocks xmlns:a="http://schemas.openxmlformats.org/drawingml/2006/main" noGrp="1"/>
          </p:cNvSpPr>
          <p:nvPr/>
        </p:nvSpPr>
        <p:spPr>
          <a:xfrm xmlns:a="http://schemas.openxmlformats.org/drawingml/2006/main">
            <a:off x="6229350" y="25336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FFFFFF"/>
                </a:solidFill>
              </a:defRPr>
            </a:pPr>
            <a:r>
              <a:rPr sz="1125" b="1">
                <a:solidFill>
                  <a:srgbClr val="FFFFFF"/>
                </a:solidFill>
              </a:rPr>
              <a:t>03</a:t>
            </a:r>
          </a:p>
        </p:txBody>
      </p:sp>
      <p:sp>
        <p:nvSpPr>
          <p:cNvPr id="17" name="">
            <a:extLst xmlns:a="http://schemas.openxmlformats.org/drawingml/2006/main">
              <a:ext uri="{FF2B5EF4-FFF2-40B4-BE49-F238E27FC236}">
                <a16:creationId xmlns:a16="http://schemas.microsoft.com/office/drawing/2014/main" id="{BFD9CE43-AC03-481F-98B0-01EB117D7B05}"/>
              </a:ext>
            </a:extLst>
          </p:cNvPr>
          <p:cNvSpPr>
            <a:spLocks xmlns:a="http://schemas.openxmlformats.org/drawingml/2006/main" noGrp="1"/>
          </p:cNvSpPr>
          <p:nvPr/>
        </p:nvSpPr>
        <p:spPr>
          <a:xfrm xmlns:a="http://schemas.openxmlformats.org/drawingml/2006/main">
            <a:off x="6743700" y="2505075"/>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Continuity</a:t>
            </a:r>
          </a:p>
        </p:txBody>
      </p:sp>
      <p:sp>
        <p:nvSpPr>
          <p:cNvPr id="18" name="">
            <a:extLst xmlns:a="http://schemas.openxmlformats.org/drawingml/2006/main">
              <a:ext uri="{FF2B5EF4-FFF2-40B4-BE49-F238E27FC236}">
                <a16:creationId xmlns:a16="http://schemas.microsoft.com/office/drawing/2014/main" id="{BA8BADF6-62F4-4C16-AE85-EF52B6286054}"/>
              </a:ext>
            </a:extLst>
          </p:cNvPr>
          <p:cNvSpPr>
            <a:spLocks xmlns:a="http://schemas.openxmlformats.org/drawingml/2006/main" noGrp="1"/>
          </p:cNvSpPr>
          <p:nvPr/>
        </p:nvSpPr>
        <p:spPr>
          <a:xfrm xmlns:a="http://schemas.openxmlformats.org/drawingml/2006/main">
            <a:off x="6229350" y="2981325"/>
            <a:ext cx="21907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716A7C"/>
                </a:solidFill>
              </a:defRPr>
            </a:pPr>
            <a:r>
              <a:rPr sz="1163" b="0">
                <a:solidFill>
                  <a:srgbClr val="716A7C"/>
                </a:solidFill>
              </a:rPr>
              <a:t>Each meeting restarts the story; past commitments stay buried.</a:t>
            </a:r>
          </a:p>
        </p:txBody>
      </p:sp>
      <p:sp>
        <p:nvSpPr>
          <p:cNvPr id="19" name="">
            <a:extLst xmlns:a="http://schemas.openxmlformats.org/drawingml/2006/main">
              <a:ext uri="{FF2B5EF4-FFF2-40B4-BE49-F238E27FC236}">
                <a16:creationId xmlns:a16="http://schemas.microsoft.com/office/drawing/2014/main" id="{4B2DF895-4A00-4143-814B-9E84C04B3D65}"/>
              </a:ext>
            </a:extLst>
          </p:cNvPr>
          <p:cNvSpPr>
            <a:spLocks xmlns:a="http://schemas.openxmlformats.org/drawingml/2006/main" noGrp="1"/>
          </p:cNvSpPr>
          <p:nvPr/>
        </p:nvSpPr>
        <p:spPr>
          <a:xfrm xmlns:a="http://schemas.openxmlformats.org/drawingml/2006/main">
            <a:off x="8782050" y="2333625"/>
            <a:ext cx="2533650" cy="2571750"/>
          </a:xfrm>
          <a:prstGeom xmlns:a="http://schemas.openxmlformats.org/drawingml/2006/main" prst="roundRect">
            <a:avLst>
              <a:gd name="adj" fmla="val 6015"/>
            </a:avLst>
          </a:prstGeom>
          <a:solidFill xmlns:a="http://schemas.openxmlformats.org/drawingml/2006/main">
            <a:srgbClr val="EAF7F2"/>
          </a:solidFill>
          <a:ln xmlns:a="http://schemas.openxmlformats.org/drawingml/2006/main" w="9525">
            <a:solidFill>
              <a:srgbClr val="DDD7E5"/>
            </a:solidFill>
            <a:prstDash val="solid"/>
          </a:ln>
        </p:spPr>
      </p:sp>
      <p:sp>
        <p:nvSpPr>
          <p:cNvPr id="20" name="">
            <a:extLst xmlns:a="http://schemas.openxmlformats.org/drawingml/2006/main">
              <a:ext uri="{FF2B5EF4-FFF2-40B4-BE49-F238E27FC236}">
                <a16:creationId xmlns:a16="http://schemas.microsoft.com/office/drawing/2014/main" id="{BA7F3B37-4C24-4EF7-A007-AEA1176E981E}"/>
              </a:ext>
            </a:extLst>
          </p:cNvPr>
          <p:cNvSpPr>
            <a:spLocks xmlns:a="http://schemas.openxmlformats.org/drawingml/2006/main" noGrp="1"/>
          </p:cNvSpPr>
          <p:nvPr/>
        </p:nvSpPr>
        <p:spPr>
          <a:xfrm xmlns:a="http://schemas.openxmlformats.org/drawingml/2006/main">
            <a:off x="8953500" y="2505075"/>
            <a:ext cx="361950" cy="361950"/>
          </a:xfrm>
          <a:prstGeom xmlns:a="http://schemas.openxmlformats.org/drawingml/2006/main" prst="roundRect">
            <a:avLst>
              <a:gd name="adj" fmla="val 50000"/>
            </a:avLst>
          </a:prstGeom>
          <a:solidFill xmlns:a="http://schemas.openxmlformats.org/drawingml/2006/main">
            <a:srgbClr val="2E9B7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80EF722-FAA3-4AA5-A8B0-BDD6B4FEFEFA}"/>
              </a:ext>
            </a:extLst>
          </p:cNvPr>
          <p:cNvSpPr>
            <a:spLocks xmlns:a="http://schemas.openxmlformats.org/drawingml/2006/main" noGrp="1"/>
          </p:cNvSpPr>
          <p:nvPr/>
        </p:nvSpPr>
        <p:spPr>
          <a:xfrm xmlns:a="http://schemas.openxmlformats.org/drawingml/2006/main">
            <a:off x="8953500" y="25336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FFFFFF"/>
                </a:solidFill>
              </a:defRPr>
            </a:pPr>
            <a:r>
              <a:rPr sz="1125" b="1">
                <a:solidFill>
                  <a:srgbClr val="FFFFFF"/>
                </a:solidFill>
              </a:rPr>
              <a:t>04</a:t>
            </a:r>
          </a:p>
        </p:txBody>
      </p:sp>
      <p:sp>
        <p:nvSpPr>
          <p:cNvPr id="22" name="">
            <a:extLst xmlns:a="http://schemas.openxmlformats.org/drawingml/2006/main">
              <a:ext uri="{FF2B5EF4-FFF2-40B4-BE49-F238E27FC236}">
                <a16:creationId xmlns:a16="http://schemas.microsoft.com/office/drawing/2014/main" id="{A777B490-8A48-43A0-8E92-2E2753DF12CB}"/>
              </a:ext>
            </a:extLst>
          </p:cNvPr>
          <p:cNvSpPr>
            <a:spLocks xmlns:a="http://schemas.openxmlformats.org/drawingml/2006/main" noGrp="1"/>
          </p:cNvSpPr>
          <p:nvPr/>
        </p:nvSpPr>
        <p:spPr>
          <a:xfrm xmlns:a="http://schemas.openxmlformats.org/drawingml/2006/main">
            <a:off x="9467850" y="2505075"/>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Follow-through</a:t>
            </a:r>
          </a:p>
        </p:txBody>
      </p:sp>
      <p:sp>
        <p:nvSpPr>
          <p:cNvPr id="23" name="">
            <a:extLst xmlns:a="http://schemas.openxmlformats.org/drawingml/2006/main">
              <a:ext uri="{FF2B5EF4-FFF2-40B4-BE49-F238E27FC236}">
                <a16:creationId xmlns:a16="http://schemas.microsoft.com/office/drawing/2014/main" id="{83691FD8-525F-4E77-AB7B-9FD340F7A917}"/>
              </a:ext>
            </a:extLst>
          </p:cNvPr>
          <p:cNvSpPr>
            <a:spLocks xmlns:a="http://schemas.openxmlformats.org/drawingml/2006/main" noGrp="1"/>
          </p:cNvSpPr>
          <p:nvPr/>
        </p:nvSpPr>
        <p:spPr>
          <a:xfrm xmlns:a="http://schemas.openxmlformats.org/drawingml/2006/main">
            <a:off x="8953500" y="2981325"/>
            <a:ext cx="21907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716A7C"/>
                </a:solidFill>
              </a:defRPr>
            </a:pPr>
            <a:r>
              <a:rPr sz="1163" b="0">
                <a:solidFill>
                  <a:srgbClr val="716A7C"/>
                </a:solidFill>
              </a:rPr>
              <a:t>Insights stop at a summary instead of entering governed action.</a:t>
            </a:r>
          </a:p>
        </p:txBody>
      </p:sp>
      <p:sp>
        <p:nvSpPr>
          <p:cNvPr id="24" name="">
            <a:extLst xmlns:a="http://schemas.openxmlformats.org/drawingml/2006/main">
              <a:ext uri="{FF2B5EF4-FFF2-40B4-BE49-F238E27FC236}">
                <a16:creationId xmlns:a16="http://schemas.microsoft.com/office/drawing/2014/main" id="{66A65B50-BA2D-4D18-96E7-78D26D1EB0A0}"/>
              </a:ext>
            </a:extLst>
          </p:cNvPr>
          <p:cNvSpPr>
            <a:spLocks xmlns:a="http://schemas.openxmlformats.org/drawingml/2006/main" noGrp="1"/>
          </p:cNvSpPr>
          <p:nvPr/>
        </p:nvSpPr>
        <p:spPr>
          <a:xfrm xmlns:a="http://schemas.openxmlformats.org/drawingml/2006/main">
            <a:off x="609600" y="5267325"/>
            <a:ext cx="10972800" cy="685800"/>
          </a:xfrm>
          <a:prstGeom xmlns:a="http://schemas.openxmlformats.org/drawingml/2006/main" prst="roundRect">
            <a:avLst>
              <a:gd name="adj" fmla="val 16667"/>
            </a:avLst>
          </a:prstGeom>
          <a:solidFill xmlns:a="http://schemas.openxmlformats.org/drawingml/2006/main">
            <a:srgbClr val="0C092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328A554-A9E5-4584-8CD6-01487E751BF5}"/>
              </a:ext>
            </a:extLst>
          </p:cNvPr>
          <p:cNvSpPr>
            <a:spLocks xmlns:a="http://schemas.openxmlformats.org/drawingml/2006/main" noGrp="1"/>
          </p:cNvSpPr>
          <p:nvPr/>
        </p:nvSpPr>
        <p:spPr>
          <a:xfrm xmlns:a="http://schemas.openxmlformats.org/drawingml/2006/main">
            <a:off x="876300" y="541020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FFFFFF"/>
                </a:solidFill>
              </a:defRPr>
            </a:pPr>
            <a:r>
              <a:rPr sz="1875" b="1">
                <a:solidFill>
                  <a:srgbClr val="FFFFFF"/>
                </a:solidFill>
              </a:rPr>
              <a:t>Meeting notes are a feature.  Organizational memory is infrastructure.</a:t>
            </a:r>
          </a:p>
        </p:txBody>
      </p:sp>
      <p:sp>
        <p:nvSpPr>
          <p:cNvPr id="26" name="">
            <a:extLst xmlns:a="http://schemas.openxmlformats.org/drawingml/2006/main">
              <a:ext uri="{FF2B5EF4-FFF2-40B4-BE49-F238E27FC236}">
                <a16:creationId xmlns:a16="http://schemas.microsoft.com/office/drawing/2014/main" id="{7452F62E-AA32-4492-A7F2-7171F6E212DB}"/>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DD7E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E427473-3FD5-4325-9E45-9927081729F4}"/>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43E7"/>
                </a:solidFill>
              </a:defRPr>
            </a:pPr>
            <a:r>
              <a:rPr sz="750" b="1">
                <a:solidFill>
                  <a:srgbClr val="6F43E7"/>
                </a:solidFill>
              </a:rPr>
              <a:t>NEURAI PLATFORM</a:t>
            </a:r>
          </a:p>
        </p:txBody>
      </p:sp>
      <p:sp>
        <p:nvSpPr>
          <p:cNvPr id="28" name="">
            <a:extLst xmlns:a="http://schemas.openxmlformats.org/drawingml/2006/main">
              <a:ext uri="{FF2B5EF4-FFF2-40B4-BE49-F238E27FC236}">
                <a16:creationId xmlns:a16="http://schemas.microsoft.com/office/drawing/2014/main" id="{AF80AE28-8F85-4D04-A4EE-105B21C8D898}"/>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716A7C"/>
                </a:solidFill>
              </a:defRPr>
            </a:pPr>
            <a:r>
              <a:rPr sz="750" b="1">
                <a:solidFill>
                  <a:srgbClr val="716A7C"/>
                </a:solidFill>
              </a:rPr>
              <a:t>02</a:t>
            </a:r>
          </a:p>
        </p:txBody>
      </p:sp>
    </p:spTree>
    <p:extLst>
      <p:ext uri="{BB962C8B-B14F-4D97-AF65-F5344CB8AC3E}">
        <p14:creationId xmlns:p14="http://schemas.microsoft.com/office/powerpoint/2010/main" val="504795268"/>
      </p:ext>
    </p:extLst>
  </p:cSld>
</p:sld>
</file>

<file path=ppt/slides/slide3.xml><?xml version="1.0" encoding="utf-8"?>
<p:sld xmlns:p="http://schemas.openxmlformats.org/presentationml/2006/main">
  <p:cSld>
    <p:bg>
      <p:bgPr>
        <a:solidFill xmlns:a="http://schemas.openxmlformats.org/drawingml/2006/main">
          <a:srgbClr val="0C092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4C05100-B370-4A2D-8EA5-B65C04771F96}"/>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B6DFF"/>
                </a:solidFill>
              </a:defRPr>
            </a:pPr>
            <a:r>
              <a:rPr sz="975" b="1">
                <a:solidFill>
                  <a:srgbClr val="9B6DFF"/>
                </a:solidFill>
              </a:rPr>
              <a:t>WHY ECHO FIRST</a:t>
            </a:r>
          </a:p>
        </p:txBody>
      </p:sp>
      <p:sp>
        <p:nvSpPr>
          <p:cNvPr id="2" name="">
            <a:extLst xmlns:a="http://schemas.openxmlformats.org/drawingml/2006/main">
              <a:ext uri="{FF2B5EF4-FFF2-40B4-BE49-F238E27FC236}">
                <a16:creationId xmlns:a16="http://schemas.microsoft.com/office/drawing/2014/main" id="{72ACF654-90CA-4A10-A759-8C7936D38C1D}"/>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defRPr>
            </a:pPr>
            <a:r>
              <a:rPr sz="2850" b="1">
                <a:solidFill>
                  <a:srgbClr val="FFFFFF"/>
                </a:solidFill>
              </a:rPr>
              <a:t>The wedge is a conversation. The asset is memory.</a:t>
            </a:r>
          </a:p>
        </p:txBody>
      </p:sp>
      <p:sp>
        <p:nvSpPr>
          <p:cNvPr id="3" name="">
            <a:extLst xmlns:a="http://schemas.openxmlformats.org/drawingml/2006/main">
              <a:ext uri="{FF2B5EF4-FFF2-40B4-BE49-F238E27FC236}">
                <a16:creationId xmlns:a16="http://schemas.microsoft.com/office/drawing/2014/main" id="{690DD8B6-1310-4CEA-80A7-3EC24B77C4BE}"/>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2CAE8"/>
                </a:solidFill>
              </a:defRPr>
            </a:pPr>
            <a:r>
              <a:rPr sz="1350" b="0">
                <a:solidFill>
                  <a:srgbClr val="D2CAE8"/>
                </a:solidFill>
              </a:rPr>
              <a:t>One flow delivers immediate value and compounds into the platform.</a:t>
            </a:r>
          </a:p>
        </p:txBody>
      </p:sp>
      <p:sp>
        <p:nvSpPr>
          <p:cNvPr id="4" name="">
            <a:extLst xmlns:a="http://schemas.openxmlformats.org/drawingml/2006/main">
              <a:ext uri="{FF2B5EF4-FFF2-40B4-BE49-F238E27FC236}">
                <a16:creationId xmlns:a16="http://schemas.microsoft.com/office/drawing/2014/main" id="{826A233A-878D-43EF-842F-570E7FB2D512}"/>
              </a:ext>
            </a:extLst>
          </p:cNvPr>
          <p:cNvSpPr>
            <a:spLocks xmlns:a="http://schemas.openxmlformats.org/drawingml/2006/main" noGrp="1"/>
          </p:cNvSpPr>
          <p:nvPr/>
        </p:nvSpPr>
        <p:spPr>
          <a:xfrm xmlns:a="http://schemas.openxmlformats.org/drawingml/2006/main">
            <a:off x="685800" y="2705100"/>
            <a:ext cx="1676400" cy="1219200"/>
          </a:xfrm>
          <a:prstGeom xmlns:a="http://schemas.openxmlformats.org/drawingml/2006/main" prst="roundRect">
            <a:avLst>
              <a:gd name="adj" fmla="val 9375"/>
            </a:avLst>
          </a:prstGeom>
          <a:solidFill xmlns:a="http://schemas.openxmlformats.org/drawingml/2006/main">
            <a:srgbClr val="FF6F6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722EAF0-6A54-4994-94A7-59CD3ACD0C40}"/>
              </a:ext>
            </a:extLst>
          </p:cNvPr>
          <p:cNvSpPr>
            <a:spLocks xmlns:a="http://schemas.openxmlformats.org/drawingml/2006/main" noGrp="1"/>
          </p:cNvSpPr>
          <p:nvPr/>
        </p:nvSpPr>
        <p:spPr>
          <a:xfrm xmlns:a="http://schemas.openxmlformats.org/drawingml/2006/main">
            <a:off x="800100" y="28003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CAPTURE</a:t>
            </a:r>
          </a:p>
        </p:txBody>
      </p:sp>
      <p:sp>
        <p:nvSpPr>
          <p:cNvPr id="6" name="">
            <a:extLst xmlns:a="http://schemas.openxmlformats.org/drawingml/2006/main">
              <a:ext uri="{FF2B5EF4-FFF2-40B4-BE49-F238E27FC236}">
                <a16:creationId xmlns:a16="http://schemas.microsoft.com/office/drawing/2014/main" id="{EB50D7FE-9EE8-4C95-8661-E147DBE9F4F7}"/>
              </a:ext>
            </a:extLst>
          </p:cNvPr>
          <p:cNvSpPr>
            <a:spLocks xmlns:a="http://schemas.openxmlformats.org/drawingml/2006/main" noGrp="1"/>
          </p:cNvSpPr>
          <p:nvPr/>
        </p:nvSpPr>
        <p:spPr>
          <a:xfrm xmlns:a="http://schemas.openxmlformats.org/drawingml/2006/main">
            <a:off x="800100" y="3086100"/>
            <a:ext cx="1447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Browser + Echo Mobile</a:t>
            </a:r>
          </a:p>
        </p:txBody>
      </p:sp>
      <p:sp>
        <p:nvSpPr>
          <p:cNvPr id="7" name="">
            <a:extLst xmlns:a="http://schemas.openxmlformats.org/drawingml/2006/main">
              <a:ext uri="{FF2B5EF4-FFF2-40B4-BE49-F238E27FC236}">
                <a16:creationId xmlns:a16="http://schemas.microsoft.com/office/drawing/2014/main" id="{CFA5C784-A750-4E4A-85F8-03958BEFD16D}"/>
              </a:ext>
            </a:extLst>
          </p:cNvPr>
          <p:cNvSpPr>
            <a:spLocks xmlns:a="http://schemas.openxmlformats.org/drawingml/2006/main" noGrp="1"/>
          </p:cNvSpPr>
          <p:nvPr/>
        </p:nvSpPr>
        <p:spPr>
          <a:xfrm xmlns:a="http://schemas.openxmlformats.org/drawingml/2006/main">
            <a:off x="2895600" y="2705100"/>
            <a:ext cx="1676400" cy="1219200"/>
          </a:xfrm>
          <a:prstGeom xmlns:a="http://schemas.openxmlformats.org/drawingml/2006/main" prst="roundRect">
            <a:avLst>
              <a:gd name="adj" fmla="val 9375"/>
            </a:avLst>
          </a:prstGeom>
          <a:solidFill xmlns:a="http://schemas.openxmlformats.org/drawingml/2006/main">
            <a:srgbClr val="9B6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B8A9441-44BD-484D-A9BF-388B002C063A}"/>
              </a:ext>
            </a:extLst>
          </p:cNvPr>
          <p:cNvSpPr>
            <a:spLocks xmlns:a="http://schemas.openxmlformats.org/drawingml/2006/main" noGrp="1"/>
          </p:cNvSpPr>
          <p:nvPr/>
        </p:nvSpPr>
        <p:spPr>
          <a:xfrm xmlns:a="http://schemas.openxmlformats.org/drawingml/2006/main">
            <a:off x="3009900" y="28003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TRUTH</a:t>
            </a:r>
          </a:p>
        </p:txBody>
      </p:sp>
      <p:sp>
        <p:nvSpPr>
          <p:cNvPr id="9" name="">
            <a:extLst xmlns:a="http://schemas.openxmlformats.org/drawingml/2006/main">
              <a:ext uri="{FF2B5EF4-FFF2-40B4-BE49-F238E27FC236}">
                <a16:creationId xmlns:a16="http://schemas.microsoft.com/office/drawing/2014/main" id="{972B483A-9D85-4647-B28C-111D769EFA9B}"/>
              </a:ext>
            </a:extLst>
          </p:cNvPr>
          <p:cNvSpPr>
            <a:spLocks xmlns:a="http://schemas.openxmlformats.org/drawingml/2006/main" noGrp="1"/>
          </p:cNvSpPr>
          <p:nvPr/>
        </p:nvSpPr>
        <p:spPr>
          <a:xfrm xmlns:a="http://schemas.openxmlformats.org/drawingml/2006/main">
            <a:off x="3009900" y="3086100"/>
            <a:ext cx="1447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Transcript + timing</a:t>
            </a:r>
          </a:p>
        </p:txBody>
      </p:sp>
      <p:sp>
        <p:nvSpPr>
          <p:cNvPr id="10" name="">
            <a:extLst xmlns:a="http://schemas.openxmlformats.org/drawingml/2006/main">
              <a:ext uri="{FF2B5EF4-FFF2-40B4-BE49-F238E27FC236}">
                <a16:creationId xmlns:a16="http://schemas.microsoft.com/office/drawing/2014/main" id="{50492572-D32B-4750-B53E-DD8DB2390477}"/>
              </a:ext>
            </a:extLst>
          </p:cNvPr>
          <p:cNvSpPr>
            <a:spLocks xmlns:a="http://schemas.openxmlformats.org/drawingml/2006/main" noGrp="1"/>
          </p:cNvSpPr>
          <p:nvPr/>
        </p:nvSpPr>
        <p:spPr>
          <a:xfrm xmlns:a="http://schemas.openxmlformats.org/drawingml/2006/main">
            <a:off x="5105400" y="2705100"/>
            <a:ext cx="1676400" cy="1219200"/>
          </a:xfrm>
          <a:prstGeom xmlns:a="http://schemas.openxmlformats.org/drawingml/2006/main" prst="roundRect">
            <a:avLst>
              <a:gd name="adj" fmla="val 9375"/>
            </a:avLst>
          </a:prstGeom>
          <a:solidFill xmlns:a="http://schemas.openxmlformats.org/drawingml/2006/main">
            <a:srgbClr val="63D8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FD4C116-7EED-499F-890D-CABAFFF77094}"/>
              </a:ext>
            </a:extLst>
          </p:cNvPr>
          <p:cNvSpPr>
            <a:spLocks xmlns:a="http://schemas.openxmlformats.org/drawingml/2006/main" noGrp="1"/>
          </p:cNvSpPr>
          <p:nvPr/>
        </p:nvSpPr>
        <p:spPr>
          <a:xfrm xmlns:a="http://schemas.openxmlformats.org/drawingml/2006/main">
            <a:off x="5219700" y="28003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0C0922"/>
                </a:solidFill>
              </a:defRPr>
            </a:pPr>
            <a:r>
              <a:rPr sz="1275" b="1">
                <a:solidFill>
                  <a:srgbClr val="0C0922"/>
                </a:solidFill>
              </a:rPr>
              <a:t>MEMORY</a:t>
            </a:r>
          </a:p>
        </p:txBody>
      </p:sp>
      <p:sp>
        <p:nvSpPr>
          <p:cNvPr id="12" name="">
            <a:extLst xmlns:a="http://schemas.openxmlformats.org/drawingml/2006/main">
              <a:ext uri="{FF2B5EF4-FFF2-40B4-BE49-F238E27FC236}">
                <a16:creationId xmlns:a16="http://schemas.microsoft.com/office/drawing/2014/main" id="{4EF521EB-5771-4111-A6A9-85A9E4AE3640}"/>
              </a:ext>
            </a:extLst>
          </p:cNvPr>
          <p:cNvSpPr>
            <a:spLocks xmlns:a="http://schemas.openxmlformats.org/drawingml/2006/main" noGrp="1"/>
          </p:cNvSpPr>
          <p:nvPr/>
        </p:nvSpPr>
        <p:spPr>
          <a:xfrm xmlns:a="http://schemas.openxmlformats.org/drawingml/2006/main">
            <a:off x="5219700" y="3086100"/>
            <a:ext cx="1447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716A7C"/>
                </a:solidFill>
              </a:defRPr>
            </a:pPr>
            <a:r>
              <a:rPr sz="938" b="0">
                <a:solidFill>
                  <a:srgbClr val="716A7C"/>
                </a:solidFill>
              </a:rPr>
              <a:t>Versions + provenance</a:t>
            </a:r>
          </a:p>
        </p:txBody>
      </p:sp>
      <p:sp>
        <p:nvSpPr>
          <p:cNvPr id="13" name="">
            <a:extLst xmlns:a="http://schemas.openxmlformats.org/drawingml/2006/main">
              <a:ext uri="{FF2B5EF4-FFF2-40B4-BE49-F238E27FC236}">
                <a16:creationId xmlns:a16="http://schemas.microsoft.com/office/drawing/2014/main" id="{CC649E3A-0A53-4474-8528-86A918955D74}"/>
              </a:ext>
            </a:extLst>
          </p:cNvPr>
          <p:cNvSpPr>
            <a:spLocks xmlns:a="http://schemas.openxmlformats.org/drawingml/2006/main" noGrp="1"/>
          </p:cNvSpPr>
          <p:nvPr/>
        </p:nvSpPr>
        <p:spPr>
          <a:xfrm xmlns:a="http://schemas.openxmlformats.org/drawingml/2006/main">
            <a:off x="7315200" y="2705100"/>
            <a:ext cx="1676400" cy="1219200"/>
          </a:xfrm>
          <a:prstGeom xmlns:a="http://schemas.openxmlformats.org/drawingml/2006/main" prst="roundRect">
            <a:avLst>
              <a:gd name="adj" fmla="val 9375"/>
            </a:avLst>
          </a:prstGeom>
          <a:solidFill xmlns:a="http://schemas.openxmlformats.org/drawingml/2006/main">
            <a:srgbClr val="6F43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CB50D3-3677-48E0-8273-B3D26E16200A}"/>
              </a:ext>
            </a:extLst>
          </p:cNvPr>
          <p:cNvSpPr>
            <a:spLocks xmlns:a="http://schemas.openxmlformats.org/drawingml/2006/main" noGrp="1"/>
          </p:cNvSpPr>
          <p:nvPr/>
        </p:nvSpPr>
        <p:spPr>
          <a:xfrm xmlns:a="http://schemas.openxmlformats.org/drawingml/2006/main">
            <a:off x="7429500" y="28003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REASON</a:t>
            </a:r>
          </a:p>
        </p:txBody>
      </p:sp>
      <p:sp>
        <p:nvSpPr>
          <p:cNvPr id="15" name="">
            <a:extLst xmlns:a="http://schemas.openxmlformats.org/drawingml/2006/main">
              <a:ext uri="{FF2B5EF4-FFF2-40B4-BE49-F238E27FC236}">
                <a16:creationId xmlns:a16="http://schemas.microsoft.com/office/drawing/2014/main" id="{412E9E91-D971-402D-957C-8DBC6FCB2DBB}"/>
              </a:ext>
            </a:extLst>
          </p:cNvPr>
          <p:cNvSpPr>
            <a:spLocks xmlns:a="http://schemas.openxmlformats.org/drawingml/2006/main" noGrp="1"/>
          </p:cNvSpPr>
          <p:nvPr/>
        </p:nvSpPr>
        <p:spPr>
          <a:xfrm xmlns:a="http://schemas.openxmlformats.org/drawingml/2006/main">
            <a:off x="7429500" y="3086100"/>
            <a:ext cx="1447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Cross-call agent</a:t>
            </a:r>
          </a:p>
        </p:txBody>
      </p:sp>
      <p:sp>
        <p:nvSpPr>
          <p:cNvPr id="16" name="">
            <a:extLst xmlns:a="http://schemas.openxmlformats.org/drawingml/2006/main">
              <a:ext uri="{FF2B5EF4-FFF2-40B4-BE49-F238E27FC236}">
                <a16:creationId xmlns:a16="http://schemas.microsoft.com/office/drawing/2014/main" id="{54495B44-AC68-48F4-A076-73629D45028F}"/>
              </a:ext>
            </a:extLst>
          </p:cNvPr>
          <p:cNvSpPr>
            <a:spLocks xmlns:a="http://schemas.openxmlformats.org/drawingml/2006/main" noGrp="1"/>
          </p:cNvSpPr>
          <p:nvPr/>
        </p:nvSpPr>
        <p:spPr>
          <a:xfrm xmlns:a="http://schemas.openxmlformats.org/drawingml/2006/main">
            <a:off x="9525000" y="2705100"/>
            <a:ext cx="1676400" cy="1219200"/>
          </a:xfrm>
          <a:prstGeom xmlns:a="http://schemas.openxmlformats.org/drawingml/2006/main" prst="roundRect">
            <a:avLst>
              <a:gd name="adj" fmla="val 9375"/>
            </a:avLst>
          </a:prstGeom>
          <a:solidFill xmlns:a="http://schemas.openxmlformats.org/drawingml/2006/main">
            <a:srgbClr val="2E9B7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47F0705-525A-47C4-8819-4D8BB40068EE}"/>
              </a:ext>
            </a:extLst>
          </p:cNvPr>
          <p:cNvSpPr>
            <a:spLocks xmlns:a="http://schemas.openxmlformats.org/drawingml/2006/main" noGrp="1"/>
          </p:cNvSpPr>
          <p:nvPr/>
        </p:nvSpPr>
        <p:spPr>
          <a:xfrm xmlns:a="http://schemas.openxmlformats.org/drawingml/2006/main">
            <a:off x="9639300" y="28003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ACT</a:t>
            </a:r>
          </a:p>
        </p:txBody>
      </p:sp>
      <p:sp>
        <p:nvSpPr>
          <p:cNvPr id="18" name="">
            <a:extLst xmlns:a="http://schemas.openxmlformats.org/drawingml/2006/main">
              <a:ext uri="{FF2B5EF4-FFF2-40B4-BE49-F238E27FC236}">
                <a16:creationId xmlns:a16="http://schemas.microsoft.com/office/drawing/2014/main" id="{73F33D13-02A2-4154-8F2F-6E3DD46F29EA}"/>
              </a:ext>
            </a:extLst>
          </p:cNvPr>
          <p:cNvSpPr>
            <a:spLocks xmlns:a="http://schemas.openxmlformats.org/drawingml/2006/main" noGrp="1"/>
          </p:cNvSpPr>
          <p:nvPr/>
        </p:nvSpPr>
        <p:spPr>
          <a:xfrm xmlns:a="http://schemas.openxmlformats.org/drawingml/2006/main">
            <a:off x="9639300" y="3086100"/>
            <a:ext cx="1447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Tools + consent</a:t>
            </a:r>
          </a:p>
        </p:txBody>
      </p:sp>
      <p:cxnSp>
        <p:nvCxnSpPr>
          <p:cNvPr id="50" name=""/>
          <p:cNvCxnSpPr>
            <a:stCxn xmlns:a="http://schemas.openxmlformats.org/drawingml/2006/main" id="4" idx="3"/>
            <a:endCxn xmlns:a="http://schemas.openxmlformats.org/drawingml/2006/main" id="7" idx="1"/>
          </p:cNvCxnSpPr>
          <p:nvPr/>
        </p:nvCxnSpPr>
        <p:spPr>
          <a:xfrm xmlns:a="http://schemas.openxmlformats.org/drawingml/2006/main">
            <a:off x="2362200" y="3314700"/>
            <a:ext cx="533400" cy="0"/>
          </a:xfrm>
          <a:prstGeom xmlns:a="http://schemas.openxmlformats.org/drawingml/2006/main" prst="straightConnector1">
            <a:avLst/>
          </a:prstGeom>
          <a:ln xmlns:a="http://schemas.openxmlformats.org/drawingml/2006/main" w="20955">
            <a:solidFill>
              <a:srgbClr val="8775B9"/>
            </a:solidFill>
            <a:prstDash val="solid"/>
            <a:tailEnd type="arrow" w="med" len="med"/>
          </a:ln>
        </p:spPr>
      </p:cxnSp>
      <p:cxnSp>
        <p:nvCxnSpPr>
          <p:cNvPr id="51" name=""/>
          <p:cNvCxnSpPr>
            <a:stCxn xmlns:a="http://schemas.openxmlformats.org/drawingml/2006/main" id="7" idx="3"/>
            <a:endCxn xmlns:a="http://schemas.openxmlformats.org/drawingml/2006/main" id="10" idx="1"/>
          </p:cNvCxnSpPr>
          <p:nvPr/>
        </p:nvCxnSpPr>
        <p:spPr>
          <a:xfrm xmlns:a="http://schemas.openxmlformats.org/drawingml/2006/main">
            <a:off x="4572000" y="3314700"/>
            <a:ext cx="533400" cy="0"/>
          </a:xfrm>
          <a:prstGeom xmlns:a="http://schemas.openxmlformats.org/drawingml/2006/main" prst="straightConnector1">
            <a:avLst/>
          </a:prstGeom>
          <a:ln xmlns:a="http://schemas.openxmlformats.org/drawingml/2006/main" w="20955">
            <a:solidFill>
              <a:srgbClr val="8775B9"/>
            </a:solidFill>
            <a:prstDash val="solid"/>
            <a:tailEnd type="arrow" w="med" len="med"/>
          </a:ln>
        </p:spPr>
      </p:cxnSp>
      <p:cxnSp>
        <p:nvCxnSpPr>
          <p:cNvPr id="52" name=""/>
          <p:cNvCxnSpPr>
            <a:stCxn xmlns:a="http://schemas.openxmlformats.org/drawingml/2006/main" id="10" idx="3"/>
            <a:endCxn xmlns:a="http://schemas.openxmlformats.org/drawingml/2006/main" id="13" idx="1"/>
          </p:cNvCxnSpPr>
          <p:nvPr/>
        </p:nvCxnSpPr>
        <p:spPr>
          <a:xfrm xmlns:a="http://schemas.openxmlformats.org/drawingml/2006/main">
            <a:off x="6781800" y="3314700"/>
            <a:ext cx="533400" cy="0"/>
          </a:xfrm>
          <a:prstGeom xmlns:a="http://schemas.openxmlformats.org/drawingml/2006/main" prst="straightConnector1">
            <a:avLst/>
          </a:prstGeom>
          <a:ln xmlns:a="http://schemas.openxmlformats.org/drawingml/2006/main" w="20955">
            <a:solidFill>
              <a:srgbClr val="8775B9"/>
            </a:solidFill>
            <a:prstDash val="solid"/>
            <a:tailEnd type="arrow" w="med" len="med"/>
          </a:ln>
        </p:spPr>
      </p:cxnSp>
      <p:cxnSp>
        <p:nvCxnSpPr>
          <p:cNvPr id="53" name=""/>
          <p:cNvCxnSpPr>
            <a:stCxn xmlns:a="http://schemas.openxmlformats.org/drawingml/2006/main" id="13" idx="3"/>
            <a:endCxn xmlns:a="http://schemas.openxmlformats.org/drawingml/2006/main" id="16" idx="1"/>
          </p:cNvCxnSpPr>
          <p:nvPr/>
        </p:nvCxnSpPr>
        <p:spPr>
          <a:xfrm xmlns:a="http://schemas.openxmlformats.org/drawingml/2006/main">
            <a:off x="8991600" y="3314700"/>
            <a:ext cx="533400" cy="0"/>
          </a:xfrm>
          <a:prstGeom xmlns:a="http://schemas.openxmlformats.org/drawingml/2006/main" prst="straightConnector1">
            <a:avLst/>
          </a:prstGeom>
          <a:ln xmlns:a="http://schemas.openxmlformats.org/drawingml/2006/main" w="20955">
            <a:solidFill>
              <a:srgbClr val="8775B9"/>
            </a:solidFill>
            <a:prstDash val="solid"/>
            <a:tailEnd type="arrow" w="med" len="med"/>
          </a:ln>
        </p:spPr>
      </p:cxnSp>
      <p:sp>
        <p:nvSpPr>
          <p:cNvPr id="23" name="">
            <a:extLst xmlns:a="http://schemas.openxmlformats.org/drawingml/2006/main">
              <a:ext uri="{FF2B5EF4-FFF2-40B4-BE49-F238E27FC236}">
                <a16:creationId xmlns:a16="http://schemas.microsoft.com/office/drawing/2014/main" id="{01D5F4D3-0D3B-4AA0-ABC8-280D8CF5C1BD}"/>
              </a:ext>
            </a:extLst>
          </p:cNvPr>
          <p:cNvSpPr>
            <a:spLocks xmlns:a="http://schemas.openxmlformats.org/drawingml/2006/main" noGrp="1"/>
          </p:cNvSpPr>
          <p:nvPr/>
        </p:nvSpPr>
        <p:spPr>
          <a:xfrm xmlns:a="http://schemas.openxmlformats.org/drawingml/2006/main">
            <a:off x="685800" y="43053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F61"/>
                </a:solidFill>
              </a:defRPr>
            </a:pPr>
            <a:r>
              <a:rPr sz="1200" b="1">
                <a:solidFill>
                  <a:srgbClr val="FF6F61"/>
                </a:solidFill>
              </a:rPr>
              <a:t>Immediate product value</a:t>
            </a:r>
          </a:p>
        </p:txBody>
      </p:sp>
      <p:sp>
        <p:nvSpPr>
          <p:cNvPr id="24" name="">
            <a:extLst xmlns:a="http://schemas.openxmlformats.org/drawingml/2006/main">
              <a:ext uri="{FF2B5EF4-FFF2-40B4-BE49-F238E27FC236}">
                <a16:creationId xmlns:a16="http://schemas.microsoft.com/office/drawing/2014/main" id="{89E773B0-082B-4A89-BFFE-0129C1897CC9}"/>
              </a:ext>
            </a:extLst>
          </p:cNvPr>
          <p:cNvSpPr>
            <a:spLocks xmlns:a="http://schemas.openxmlformats.org/drawingml/2006/main" noGrp="1"/>
          </p:cNvSpPr>
          <p:nvPr/>
        </p:nvSpPr>
        <p:spPr>
          <a:xfrm xmlns:a="http://schemas.openxmlformats.org/drawingml/2006/main">
            <a:off x="685800" y="46291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DD5ED"/>
                </a:solidFill>
              </a:defRPr>
            </a:pPr>
            <a:r>
              <a:rPr sz="1350" b="0">
                <a:solidFill>
                  <a:srgbClr val="DDD5ED"/>
                </a:solidFill>
              </a:rPr>
              <a:t>record · transcribe · summarize · search</a:t>
            </a:r>
          </a:p>
        </p:txBody>
      </p:sp>
      <p:sp>
        <p:nvSpPr>
          <p:cNvPr id="25" name="">
            <a:extLst xmlns:a="http://schemas.openxmlformats.org/drawingml/2006/main">
              <a:ext uri="{FF2B5EF4-FFF2-40B4-BE49-F238E27FC236}">
                <a16:creationId xmlns:a16="http://schemas.microsoft.com/office/drawing/2014/main" id="{44B9BAAC-B6A8-4681-938E-0F61D72D7841}"/>
              </a:ext>
            </a:extLst>
          </p:cNvPr>
          <p:cNvSpPr>
            <a:spLocks xmlns:a="http://schemas.openxmlformats.org/drawingml/2006/main" noGrp="1"/>
          </p:cNvSpPr>
          <p:nvPr/>
        </p:nvSpPr>
        <p:spPr>
          <a:xfrm xmlns:a="http://schemas.openxmlformats.org/drawingml/2006/main">
            <a:off x="6705600" y="43053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3D8FF"/>
                </a:solidFill>
              </a:defRPr>
            </a:pPr>
            <a:r>
              <a:rPr sz="1200" b="1">
                <a:solidFill>
                  <a:srgbClr val="63D8FF"/>
                </a:solidFill>
              </a:rPr>
              <a:t>Compounding platform value</a:t>
            </a:r>
          </a:p>
        </p:txBody>
      </p:sp>
      <p:sp>
        <p:nvSpPr>
          <p:cNvPr id="26" name="">
            <a:extLst xmlns:a="http://schemas.openxmlformats.org/drawingml/2006/main">
              <a:ext uri="{FF2B5EF4-FFF2-40B4-BE49-F238E27FC236}">
                <a16:creationId xmlns:a16="http://schemas.microsoft.com/office/drawing/2014/main" id="{5315ECC9-083C-4185-BF76-800D19D5820E}"/>
              </a:ext>
            </a:extLst>
          </p:cNvPr>
          <p:cNvSpPr>
            <a:spLocks xmlns:a="http://schemas.openxmlformats.org/drawingml/2006/main" noGrp="1"/>
          </p:cNvSpPr>
          <p:nvPr/>
        </p:nvSpPr>
        <p:spPr>
          <a:xfrm xmlns:a="http://schemas.openxmlformats.org/drawingml/2006/main">
            <a:off x="6705600" y="46291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DD5ED"/>
                </a:solidFill>
              </a:defRPr>
            </a:pPr>
            <a:r>
              <a:rPr sz="1350" b="0">
                <a:solidFill>
                  <a:srgbClr val="DDD5ED"/>
                </a:solidFill>
              </a:rPr>
              <a:t>memory · signals · workflows · more apps</a:t>
            </a:r>
          </a:p>
        </p:txBody>
      </p:sp>
      <p:sp>
        <p:nvSpPr>
          <p:cNvPr id="27" name="">
            <a:extLst xmlns:a="http://schemas.openxmlformats.org/drawingml/2006/main">
              <a:ext uri="{FF2B5EF4-FFF2-40B4-BE49-F238E27FC236}">
                <a16:creationId xmlns:a16="http://schemas.microsoft.com/office/drawing/2014/main" id="{1517A26A-0851-48C9-9989-F94C9749332F}"/>
              </a:ext>
            </a:extLst>
          </p:cNvPr>
          <p:cNvSpPr>
            <a:spLocks xmlns:a="http://schemas.openxmlformats.org/drawingml/2006/main" noGrp="1"/>
          </p:cNvSpPr>
          <p:nvPr/>
        </p:nvSpPr>
        <p:spPr>
          <a:xfrm xmlns:a="http://schemas.openxmlformats.org/drawingml/2006/main">
            <a:off x="685800" y="5429250"/>
            <a:ext cx="10401300" cy="590550"/>
          </a:xfrm>
          <a:prstGeom xmlns:a="http://schemas.openxmlformats.org/drawingml/2006/main" prst="roundRect">
            <a:avLst>
              <a:gd name="adj" fmla="val 19355"/>
            </a:avLst>
          </a:prstGeom>
          <a:solidFill xmlns:a="http://schemas.openxmlformats.org/drawingml/2006/main">
            <a:srgbClr val="211844"/>
          </a:solidFill>
          <a:ln xmlns:a="http://schemas.openxmlformats.org/drawingml/2006/main" w="9525">
            <a:solidFill>
              <a:srgbClr val="3A2D62"/>
            </a:solidFill>
            <a:prstDash val="solid"/>
          </a:ln>
        </p:spPr>
      </p:sp>
      <p:sp>
        <p:nvSpPr>
          <p:cNvPr id="28" name="">
            <a:extLst xmlns:a="http://schemas.openxmlformats.org/drawingml/2006/main">
              <a:ext uri="{FF2B5EF4-FFF2-40B4-BE49-F238E27FC236}">
                <a16:creationId xmlns:a16="http://schemas.microsoft.com/office/drawing/2014/main" id="{E9364CDC-B825-46AF-808D-154D57099A0A}"/>
              </a:ext>
            </a:extLst>
          </p:cNvPr>
          <p:cNvSpPr>
            <a:spLocks xmlns:a="http://schemas.openxmlformats.org/drawingml/2006/main" noGrp="1"/>
          </p:cNvSpPr>
          <p:nvPr/>
        </p:nvSpPr>
        <p:spPr>
          <a:xfrm xmlns:a="http://schemas.openxmlformats.org/drawingml/2006/main">
            <a:off x="914400" y="5572125"/>
            <a:ext cx="994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defRPr>
            </a:pPr>
            <a:r>
              <a:rPr sz="1500" b="1">
                <a:solidFill>
                  <a:srgbClr val="FFFFFF"/>
                </a:solidFill>
              </a:rPr>
              <a:t>A horizontal assistant without a truth source is generic.  A meeting tool without a platform is bounded.</a:t>
            </a:r>
          </a:p>
        </p:txBody>
      </p:sp>
      <p:sp>
        <p:nvSpPr>
          <p:cNvPr id="29" name="">
            <a:extLst xmlns:a="http://schemas.openxmlformats.org/drawingml/2006/main">
              <a:ext uri="{FF2B5EF4-FFF2-40B4-BE49-F238E27FC236}">
                <a16:creationId xmlns:a16="http://schemas.microsoft.com/office/drawing/2014/main" id="{007BFBEF-A6BE-4FAE-9AFC-A69F17DD5611}"/>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3A315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3741330-D605-4531-BCA9-F2D8DBDF8044}"/>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9B6DFF"/>
                </a:solidFill>
              </a:defRPr>
            </a:pPr>
            <a:r>
              <a:rPr sz="750" b="1">
                <a:solidFill>
                  <a:srgbClr val="9B6DFF"/>
                </a:solidFill>
              </a:rPr>
              <a:t>NEURAI PLATFORM</a:t>
            </a:r>
          </a:p>
        </p:txBody>
      </p:sp>
      <p:sp>
        <p:nvSpPr>
          <p:cNvPr id="31" name="">
            <a:extLst xmlns:a="http://schemas.openxmlformats.org/drawingml/2006/main">
              <a:ext uri="{FF2B5EF4-FFF2-40B4-BE49-F238E27FC236}">
                <a16:creationId xmlns:a16="http://schemas.microsoft.com/office/drawing/2014/main" id="{0AFE96C4-0615-4A50-8F6D-1E72A2852605}"/>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9288A9"/>
                </a:solidFill>
              </a:defRPr>
            </a:pPr>
            <a:r>
              <a:rPr sz="750" b="1">
                <a:solidFill>
                  <a:srgbClr val="9288A9"/>
                </a:solidFill>
              </a:rPr>
              <a:t>03</a:t>
            </a:r>
          </a:p>
        </p:txBody>
      </p:sp>
    </p:spTree>
    <p:extLst>
      <p:ext uri="{BB962C8B-B14F-4D97-AF65-F5344CB8AC3E}">
        <p14:creationId xmlns:p14="http://schemas.microsoft.com/office/powerpoint/2010/main" val="960004085"/>
      </p:ext>
    </p:extLst>
  </p:cSld>
</p:sld>
</file>

<file path=ppt/slides/slide4.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8EB7027-AEAB-4EAF-8176-D99F58BC2CAF}"/>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43E7"/>
                </a:solidFill>
              </a:defRPr>
            </a:pPr>
            <a:r>
              <a:rPr sz="975" b="1">
                <a:solidFill>
                  <a:srgbClr val="6F43E7"/>
                </a:solidFill>
              </a:rPr>
              <a:t>THE EXPERIENCE</a:t>
            </a:r>
          </a:p>
        </p:txBody>
      </p:sp>
      <p:sp>
        <p:nvSpPr>
          <p:cNvPr id="2" name="">
            <a:extLst xmlns:a="http://schemas.openxmlformats.org/drawingml/2006/main">
              <a:ext uri="{FF2B5EF4-FFF2-40B4-BE49-F238E27FC236}">
                <a16:creationId xmlns:a16="http://schemas.microsoft.com/office/drawing/2014/main" id="{6BB76E30-F7EA-4426-A153-44CF4CEFE95C}"/>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81424"/>
                </a:solidFill>
              </a:defRPr>
            </a:pPr>
            <a:r>
              <a:rPr sz="2850" b="1">
                <a:solidFill>
                  <a:srgbClr val="181424"/>
                </a:solidFill>
              </a:rPr>
              <a:t>One calm product surface—from question to captured truth</a:t>
            </a:r>
          </a:p>
        </p:txBody>
      </p:sp>
      <p:sp>
        <p:nvSpPr>
          <p:cNvPr id="3" name="">
            <a:extLst xmlns:a="http://schemas.openxmlformats.org/drawingml/2006/main">
              <a:ext uri="{FF2B5EF4-FFF2-40B4-BE49-F238E27FC236}">
                <a16:creationId xmlns:a16="http://schemas.microsoft.com/office/drawing/2014/main" id="{D0D59AF9-CA00-4E2D-9798-3F330039C18B}"/>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716A7C"/>
                </a:solidFill>
              </a:defRPr>
            </a:pPr>
            <a:r>
              <a:rPr sz="1350" b="0">
                <a:solidFill>
                  <a:srgbClr val="716A7C"/>
                </a:solidFill>
              </a:rPr>
              <a:t>Actual current screens: Persian-first platform hub and Echo recording workspace.</a:t>
            </a:r>
          </a:p>
        </p:txBody>
      </p:sp>
      <p:sp>
        <p:nvSpPr>
          <p:cNvPr id="4" name="">
            <a:extLst xmlns:a="http://schemas.openxmlformats.org/drawingml/2006/main">
              <a:ext uri="{FF2B5EF4-FFF2-40B4-BE49-F238E27FC236}">
                <a16:creationId xmlns:a16="http://schemas.microsoft.com/office/drawing/2014/main" id="{2421A1FB-9012-4240-8315-6CB2CB9E8F8B}"/>
              </a:ext>
            </a:extLst>
          </p:cNvPr>
          <p:cNvSpPr>
            <a:spLocks xmlns:a="http://schemas.openxmlformats.org/drawingml/2006/main" noGrp="1"/>
          </p:cNvSpPr>
          <p:nvPr/>
        </p:nvSpPr>
        <p:spPr>
          <a:xfrm xmlns:a="http://schemas.openxmlformats.org/drawingml/2006/main">
            <a:off x="514350" y="2038350"/>
            <a:ext cx="5353050" cy="4019550"/>
          </a:xfrm>
          <a:prstGeom xmlns:a="http://schemas.openxmlformats.org/drawingml/2006/main" prst="roundRect">
            <a:avLst>
              <a:gd name="adj" fmla="val 3791"/>
            </a:avLst>
          </a:prstGeom>
          <a:solidFill xmlns:a="http://schemas.openxmlformats.org/drawingml/2006/main">
            <a:srgbClr val="FFFFFF"/>
          </a:solidFill>
          <a:ln xmlns:a="http://schemas.openxmlformats.org/drawingml/2006/main" w="9525">
            <a:solidFill>
              <a:srgbClr val="DDD7E5"/>
            </a:solidFill>
            <a:prstDash val="solid"/>
          </a:ln>
        </p:spPr>
      </p:sp>
      <p:sp>
        <p:nvSpPr>
          <p:cNvPr id="5" name="">
            <a:extLst xmlns:a="http://schemas.openxmlformats.org/drawingml/2006/main">
              <a:ext uri="{FF2B5EF4-FFF2-40B4-BE49-F238E27FC236}">
                <a16:creationId xmlns:a16="http://schemas.microsoft.com/office/drawing/2014/main" id="{8526B788-22D0-4FE3-8DA2-71913DAE9BEE}"/>
              </a:ext>
            </a:extLst>
          </p:cNvPr>
          <p:cNvSpPr>
            <a:spLocks xmlns:a="http://schemas.openxmlformats.org/drawingml/2006/main" noGrp="1"/>
          </p:cNvSpPr>
          <p:nvPr/>
        </p:nvSpPr>
        <p:spPr>
          <a:xfrm xmlns:a="http://schemas.openxmlformats.org/drawingml/2006/main">
            <a:off x="6324600" y="2038350"/>
            <a:ext cx="5353050" cy="4019550"/>
          </a:xfrm>
          <a:prstGeom xmlns:a="http://schemas.openxmlformats.org/drawingml/2006/main" prst="roundRect">
            <a:avLst>
              <a:gd name="adj" fmla="val 3791"/>
            </a:avLst>
          </a:prstGeom>
          <a:solidFill xmlns:a="http://schemas.openxmlformats.org/drawingml/2006/main">
            <a:srgbClr val="FFFFFF"/>
          </a:solidFill>
          <a:ln xmlns:a="http://schemas.openxmlformats.org/drawingml/2006/main" w="9525">
            <a:solidFill>
              <a:srgbClr val="DDD7E5"/>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8b4e172ea4249bc"/>
          <a:srcRect xmlns:a="http://schemas.openxmlformats.org/drawingml/2006/main" l="8090" t="0" r="8090" b="0"/>
          <a:stretch xmlns:a="http://schemas.openxmlformats.org/drawingml/2006/main">
            <a:fillRect l="0" t="0" r="0" b="0"/>
          </a:stretch>
        </p:blipFill>
        <p:spPr>
          <a:xfrm xmlns:a="http://schemas.openxmlformats.org/drawingml/2006/main">
            <a:off x="666750" y="2190750"/>
            <a:ext cx="5048250" cy="2857500"/>
          </a:xfrm>
          <a:prstGeom xmlns:a="http://schemas.openxmlformats.org/drawingml/2006/main" prst="roundRect">
            <a:avLst>
              <a:gd name="adj" fmla="val 5333"/>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4df3d8a767742dd"/>
          <a:srcRect xmlns:a="http://schemas.openxmlformats.org/drawingml/2006/main" l="11268" t="0" r="11268" b="0"/>
          <a:stretch xmlns:a="http://schemas.openxmlformats.org/drawingml/2006/main">
            <a:fillRect l="0" t="0" r="0" b="0"/>
          </a:stretch>
        </p:blipFill>
        <p:spPr>
          <a:xfrm xmlns:a="http://schemas.openxmlformats.org/drawingml/2006/main">
            <a:off x="6477000" y="2190750"/>
            <a:ext cx="5048250" cy="2857500"/>
          </a:xfrm>
          <a:prstGeom xmlns:a="http://schemas.openxmlformats.org/drawingml/2006/main" prst="roundRect">
            <a:avLst>
              <a:gd name="adj" fmla="val 5333"/>
            </a:avLst>
          </a:prstGeom>
        </p:spPr>
      </p:pic>
      <p:sp>
        <p:nvSpPr>
          <p:cNvPr id="8" name="">
            <a:extLst xmlns:a="http://schemas.openxmlformats.org/drawingml/2006/main">
              <a:ext uri="{FF2B5EF4-FFF2-40B4-BE49-F238E27FC236}">
                <a16:creationId xmlns:a16="http://schemas.microsoft.com/office/drawing/2014/main" id="{4D9E9D60-4101-4841-BF3A-125944EED69D}"/>
              </a:ext>
            </a:extLst>
          </p:cNvPr>
          <p:cNvSpPr>
            <a:spLocks xmlns:a="http://schemas.openxmlformats.org/drawingml/2006/main" noGrp="1"/>
          </p:cNvSpPr>
          <p:nvPr/>
        </p:nvSpPr>
        <p:spPr>
          <a:xfrm xmlns:a="http://schemas.openxmlformats.org/drawingml/2006/main">
            <a:off x="781050" y="5200650"/>
            <a:ext cx="1428750" cy="323850"/>
          </a:xfrm>
          <a:prstGeom xmlns:a="http://schemas.openxmlformats.org/drawingml/2006/main" prst="roundRect">
            <a:avLst>
              <a:gd name="adj" fmla="val 50000"/>
            </a:avLst>
          </a:prstGeom>
          <a:solidFill xmlns:a="http://schemas.openxmlformats.org/drawingml/2006/main">
            <a:srgbClr val="EEE7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065C7B7-E9EE-4752-ACB3-42A7D01AFD58}"/>
              </a:ext>
            </a:extLst>
          </p:cNvPr>
          <p:cNvSpPr>
            <a:spLocks xmlns:a="http://schemas.openxmlformats.org/drawingml/2006/main" noGrp="1"/>
          </p:cNvSpPr>
          <p:nvPr/>
        </p:nvSpPr>
        <p:spPr>
          <a:xfrm xmlns:a="http://schemas.openxmlformats.org/drawingml/2006/main">
            <a:off x="876300" y="52292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6F43E7"/>
                </a:solidFill>
              </a:defRPr>
            </a:pPr>
            <a:r>
              <a:rPr sz="1050" b="1">
                <a:solidFill>
                  <a:srgbClr val="6F43E7"/>
                </a:solidFill>
              </a:rPr>
              <a:t>PLATFORM HUB</a:t>
            </a:r>
          </a:p>
        </p:txBody>
      </p:sp>
      <p:sp>
        <p:nvSpPr>
          <p:cNvPr id="10" name="">
            <a:extLst xmlns:a="http://schemas.openxmlformats.org/drawingml/2006/main">
              <a:ext uri="{FF2B5EF4-FFF2-40B4-BE49-F238E27FC236}">
                <a16:creationId xmlns:a16="http://schemas.microsoft.com/office/drawing/2014/main" id="{2ADCBE87-BE58-4DC4-B6CC-D22EBA1C3360}"/>
              </a:ext>
            </a:extLst>
          </p:cNvPr>
          <p:cNvSpPr>
            <a:spLocks xmlns:a="http://schemas.openxmlformats.org/drawingml/2006/main" noGrp="1"/>
          </p:cNvSpPr>
          <p:nvPr/>
        </p:nvSpPr>
        <p:spPr>
          <a:xfrm xmlns:a="http://schemas.openxmlformats.org/drawingml/2006/main">
            <a:off x="781050" y="5543550"/>
            <a:ext cx="483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716A7C"/>
                </a:solidFill>
              </a:defRPr>
            </a:pPr>
            <a:r>
              <a:rPr sz="1163" b="0">
                <a:solidFill>
                  <a:srgbClr val="716A7C"/>
                </a:solidFill>
              </a:rPr>
              <a:t>Ask across permitted memory. Attach sources. Choose agent, model, and web mode.</a:t>
            </a:r>
          </a:p>
        </p:txBody>
      </p:sp>
      <p:sp>
        <p:nvSpPr>
          <p:cNvPr id="11" name="">
            <a:extLst xmlns:a="http://schemas.openxmlformats.org/drawingml/2006/main">
              <a:ext uri="{FF2B5EF4-FFF2-40B4-BE49-F238E27FC236}">
                <a16:creationId xmlns:a16="http://schemas.microsoft.com/office/drawing/2014/main" id="{F2A79B42-B2A4-4FCD-828D-5378A49C3310}"/>
              </a:ext>
            </a:extLst>
          </p:cNvPr>
          <p:cNvSpPr>
            <a:spLocks xmlns:a="http://schemas.openxmlformats.org/drawingml/2006/main" noGrp="1"/>
          </p:cNvSpPr>
          <p:nvPr/>
        </p:nvSpPr>
        <p:spPr>
          <a:xfrm xmlns:a="http://schemas.openxmlformats.org/drawingml/2006/main">
            <a:off x="6591300" y="5200650"/>
            <a:ext cx="1428750" cy="323850"/>
          </a:xfrm>
          <a:prstGeom xmlns:a="http://schemas.openxmlformats.org/drawingml/2006/main" prst="roundRect">
            <a:avLst>
              <a:gd name="adj" fmla="val 50000"/>
            </a:avLst>
          </a:prstGeom>
          <a:solidFill xmlns:a="http://schemas.openxmlformats.org/drawingml/2006/main">
            <a:srgbClr val="FFF0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E15204-3489-469F-AE86-3B3E73CE53FA}"/>
              </a:ext>
            </a:extLst>
          </p:cNvPr>
          <p:cNvSpPr>
            <a:spLocks xmlns:a="http://schemas.openxmlformats.org/drawingml/2006/main" noGrp="1"/>
          </p:cNvSpPr>
          <p:nvPr/>
        </p:nvSpPr>
        <p:spPr>
          <a:xfrm xmlns:a="http://schemas.openxmlformats.org/drawingml/2006/main">
            <a:off x="6686550" y="52292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B44235"/>
                </a:solidFill>
              </a:defRPr>
            </a:pPr>
            <a:r>
              <a:rPr sz="1050" b="1">
                <a:solidFill>
                  <a:srgbClr val="B44235"/>
                </a:solidFill>
              </a:rPr>
              <a:t>ECHO CAPTURE</a:t>
            </a:r>
          </a:p>
        </p:txBody>
      </p:sp>
      <p:sp>
        <p:nvSpPr>
          <p:cNvPr id="13" name="">
            <a:extLst xmlns:a="http://schemas.openxmlformats.org/drawingml/2006/main">
              <a:ext uri="{FF2B5EF4-FFF2-40B4-BE49-F238E27FC236}">
                <a16:creationId xmlns:a16="http://schemas.microsoft.com/office/drawing/2014/main" id="{97A07B58-79D2-4A16-A28D-39FCC2908C62}"/>
              </a:ext>
            </a:extLst>
          </p:cNvPr>
          <p:cNvSpPr>
            <a:spLocks xmlns:a="http://schemas.openxmlformats.org/drawingml/2006/main" noGrp="1"/>
          </p:cNvSpPr>
          <p:nvPr/>
        </p:nvSpPr>
        <p:spPr>
          <a:xfrm xmlns:a="http://schemas.openxmlformats.org/drawingml/2006/main">
            <a:off x="6591300" y="5543550"/>
            <a:ext cx="483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716A7C"/>
                </a:solidFill>
              </a:defRPr>
            </a:pPr>
            <a:r>
              <a:rPr sz="1163" b="0">
                <a:solidFill>
                  <a:srgbClr val="716A7C"/>
                </a:solidFill>
              </a:rPr>
              <a:t>Waveform, live transcript, agenda, notes, and explicit recording controls.</a:t>
            </a:r>
          </a:p>
        </p:txBody>
      </p:sp>
      <p:sp>
        <p:nvSpPr>
          <p:cNvPr id="14" name="">
            <a:extLst xmlns:a="http://schemas.openxmlformats.org/drawingml/2006/main">
              <a:ext uri="{FF2B5EF4-FFF2-40B4-BE49-F238E27FC236}">
                <a16:creationId xmlns:a16="http://schemas.microsoft.com/office/drawing/2014/main" id="{ADA10E93-9792-4029-A6FF-91CEDB09102D}"/>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DD7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D654992-18BE-45BF-A2B5-4C3BA35DD6D6}"/>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43E7"/>
                </a:solidFill>
              </a:defRPr>
            </a:pPr>
            <a:r>
              <a:rPr sz="750" b="1">
                <a:solidFill>
                  <a:srgbClr val="6F43E7"/>
                </a:solidFill>
              </a:rPr>
              <a:t>NEURAI PLATFORM</a:t>
            </a:r>
          </a:p>
        </p:txBody>
      </p:sp>
      <p:sp>
        <p:nvSpPr>
          <p:cNvPr id="16" name="">
            <a:extLst xmlns:a="http://schemas.openxmlformats.org/drawingml/2006/main">
              <a:ext uri="{FF2B5EF4-FFF2-40B4-BE49-F238E27FC236}">
                <a16:creationId xmlns:a16="http://schemas.microsoft.com/office/drawing/2014/main" id="{4FE44BE7-E9ED-4C01-B8A7-5E24C02CE36C}"/>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716A7C"/>
                </a:solidFill>
              </a:defRPr>
            </a:pPr>
            <a:r>
              <a:rPr sz="750" b="1">
                <a:solidFill>
                  <a:srgbClr val="716A7C"/>
                </a:solidFill>
              </a:rPr>
              <a:t>04</a:t>
            </a:r>
          </a:p>
        </p:txBody>
      </p:sp>
    </p:spTree>
    <p:extLst>
      <p:ext uri="{BB962C8B-B14F-4D97-AF65-F5344CB8AC3E}">
        <p14:creationId xmlns:p14="http://schemas.microsoft.com/office/powerpoint/2010/main" val="342926182"/>
      </p:ext>
    </p:extLst>
  </p:cSld>
</p:sld>
</file>

<file path=ppt/slides/slide5.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85AD1F9-A8D8-44CB-901D-ADE85EC7A862}"/>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43E7"/>
                </a:solidFill>
              </a:defRPr>
            </a:pPr>
            <a:r>
              <a:rPr sz="975" b="1">
                <a:solidFill>
                  <a:srgbClr val="6F43E7"/>
                </a:solidFill>
              </a:rPr>
              <a:t>THE AI-NATIVE MODEL</a:t>
            </a:r>
          </a:p>
        </p:txBody>
      </p:sp>
      <p:sp>
        <p:nvSpPr>
          <p:cNvPr id="2" name="">
            <a:extLst xmlns:a="http://schemas.openxmlformats.org/drawingml/2006/main">
              <a:ext uri="{FF2B5EF4-FFF2-40B4-BE49-F238E27FC236}">
                <a16:creationId xmlns:a16="http://schemas.microsoft.com/office/drawing/2014/main" id="{AAE0F4DD-5CEA-4993-87B6-BB22F934968D}"/>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81424"/>
                </a:solidFill>
              </a:defRPr>
            </a:pPr>
            <a:r>
              <a:rPr sz="2850" b="1">
                <a:solidFill>
                  <a:srgbClr val="181424"/>
                </a:solidFill>
              </a:rPr>
              <a:t>Presence + hands + signals—governed by autonomy</a:t>
            </a:r>
          </a:p>
        </p:txBody>
      </p:sp>
      <p:sp>
        <p:nvSpPr>
          <p:cNvPr id="3" name="">
            <a:extLst xmlns:a="http://schemas.openxmlformats.org/drawingml/2006/main">
              <a:ext uri="{FF2B5EF4-FFF2-40B4-BE49-F238E27FC236}">
                <a16:creationId xmlns:a16="http://schemas.microsoft.com/office/drawing/2014/main" id="{1AE0A82F-0C44-4EEB-8B30-787DA7435B0E}"/>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716A7C"/>
                </a:solidFill>
              </a:defRPr>
            </a:pPr>
            <a:r>
              <a:rPr sz="1350" b="0">
                <a:solidFill>
                  <a:srgbClr val="716A7C"/>
                </a:solidFill>
              </a:rPr>
              <a:t>The assistant becomes an operating layer, not an isolated chat box.</a:t>
            </a:r>
          </a:p>
        </p:txBody>
      </p:sp>
      <p:sp>
        <p:nvSpPr>
          <p:cNvPr id="4" name="">
            <a:extLst xmlns:a="http://schemas.openxmlformats.org/drawingml/2006/main">
              <a:ext uri="{FF2B5EF4-FFF2-40B4-BE49-F238E27FC236}">
                <a16:creationId xmlns:a16="http://schemas.microsoft.com/office/drawing/2014/main" id="{14DA237E-7BE6-4DBB-8C22-3406A40D17C9}"/>
              </a:ext>
            </a:extLst>
          </p:cNvPr>
          <p:cNvSpPr>
            <a:spLocks xmlns:a="http://schemas.openxmlformats.org/drawingml/2006/main" noGrp="1"/>
          </p:cNvSpPr>
          <p:nvPr/>
        </p:nvSpPr>
        <p:spPr>
          <a:xfrm xmlns:a="http://schemas.openxmlformats.org/drawingml/2006/main">
            <a:off x="4857750" y="3048000"/>
            <a:ext cx="2476500" cy="1352550"/>
          </a:xfrm>
          <a:prstGeom xmlns:a="http://schemas.openxmlformats.org/drawingml/2006/main" prst="roundRect">
            <a:avLst>
              <a:gd name="adj" fmla="val 8451"/>
            </a:avLst>
          </a:prstGeom>
          <a:solidFill xmlns:a="http://schemas.openxmlformats.org/drawingml/2006/main">
            <a:srgbClr val="0C092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6022F41-55E4-4C67-A8DC-01DAFE851F4E}"/>
              </a:ext>
            </a:extLst>
          </p:cNvPr>
          <p:cNvSpPr>
            <a:spLocks xmlns:a="http://schemas.openxmlformats.org/drawingml/2006/main" noGrp="1"/>
          </p:cNvSpPr>
          <p:nvPr/>
        </p:nvSpPr>
        <p:spPr>
          <a:xfrm xmlns:a="http://schemas.openxmlformats.org/drawingml/2006/main">
            <a:off x="4972050" y="314325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AUTONOMY</a:t>
            </a:r>
          </a:p>
        </p:txBody>
      </p:sp>
      <p:sp>
        <p:nvSpPr>
          <p:cNvPr id="6" name="">
            <a:extLst xmlns:a="http://schemas.openxmlformats.org/drawingml/2006/main">
              <a:ext uri="{FF2B5EF4-FFF2-40B4-BE49-F238E27FC236}">
                <a16:creationId xmlns:a16="http://schemas.microsoft.com/office/drawing/2014/main" id="{DAE1268E-1FCA-46EA-B452-BD91314221E7}"/>
              </a:ext>
            </a:extLst>
          </p:cNvPr>
          <p:cNvSpPr>
            <a:spLocks xmlns:a="http://schemas.openxmlformats.org/drawingml/2006/main" noGrp="1"/>
          </p:cNvSpPr>
          <p:nvPr/>
        </p:nvSpPr>
        <p:spPr>
          <a:xfrm xmlns:a="http://schemas.openxmlformats.org/drawingml/2006/main">
            <a:off x="4972050" y="3429000"/>
            <a:ext cx="22479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Watch → Assist → Act</a:t>
            </a:r>
          </a:p>
          <a:p xmlns:a="http://schemas.openxmlformats.org/drawingml/2006/main">
            <a:pPr algn="ctr">
              <a:defRPr sz="938" b="0">
                <a:solidFill>
                  <a:srgbClr val="E4DFF1"/>
                </a:solidFill>
              </a:defRPr>
            </a:pPr>
            <a:r>
              <a:rPr sz="938" b="0">
                <a:solidFill>
                  <a:srgbClr val="E4DFF1"/>
                </a:solidFill>
              </a:rPr>
              <a:t>controls consequence</a:t>
            </a:r>
          </a:p>
        </p:txBody>
      </p:sp>
      <p:sp>
        <p:nvSpPr>
          <p:cNvPr id="7" name="">
            <a:extLst xmlns:a="http://schemas.openxmlformats.org/drawingml/2006/main">
              <a:ext uri="{FF2B5EF4-FFF2-40B4-BE49-F238E27FC236}">
                <a16:creationId xmlns:a16="http://schemas.microsoft.com/office/drawing/2014/main" id="{C8FAE8A3-ABED-4424-A595-626D8A9E7102}"/>
              </a:ext>
            </a:extLst>
          </p:cNvPr>
          <p:cNvSpPr>
            <a:spLocks xmlns:a="http://schemas.openxmlformats.org/drawingml/2006/main" noGrp="1"/>
          </p:cNvSpPr>
          <p:nvPr/>
        </p:nvSpPr>
        <p:spPr>
          <a:xfrm xmlns:a="http://schemas.openxmlformats.org/drawingml/2006/main">
            <a:off x="876300" y="2324100"/>
            <a:ext cx="2667000" cy="1200150"/>
          </a:xfrm>
          <a:prstGeom xmlns:a="http://schemas.openxmlformats.org/drawingml/2006/main" prst="roundRect">
            <a:avLst>
              <a:gd name="adj" fmla="val 9524"/>
            </a:avLst>
          </a:prstGeom>
          <a:solidFill xmlns:a="http://schemas.openxmlformats.org/drawingml/2006/main">
            <a:srgbClr val="6F43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DD788A-6D32-4525-A1A6-C4DC168F49C0}"/>
              </a:ext>
            </a:extLst>
          </p:cNvPr>
          <p:cNvSpPr>
            <a:spLocks xmlns:a="http://schemas.openxmlformats.org/drawingml/2006/main" noGrp="1"/>
          </p:cNvSpPr>
          <p:nvPr/>
        </p:nvSpPr>
        <p:spPr>
          <a:xfrm xmlns:a="http://schemas.openxmlformats.org/drawingml/2006/main">
            <a:off x="990600" y="2419350"/>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PRESENCE</a:t>
            </a:r>
          </a:p>
        </p:txBody>
      </p:sp>
      <p:sp>
        <p:nvSpPr>
          <p:cNvPr id="9" name="">
            <a:extLst xmlns:a="http://schemas.openxmlformats.org/drawingml/2006/main">
              <a:ext uri="{FF2B5EF4-FFF2-40B4-BE49-F238E27FC236}">
                <a16:creationId xmlns:a16="http://schemas.microsoft.com/office/drawing/2014/main" id="{04384BD0-5304-49D6-890B-A35DB6EA7EDF}"/>
              </a:ext>
            </a:extLst>
          </p:cNvPr>
          <p:cNvSpPr>
            <a:spLocks xmlns:a="http://schemas.openxmlformats.org/drawingml/2006/main" noGrp="1"/>
          </p:cNvSpPr>
          <p:nvPr/>
        </p:nvSpPr>
        <p:spPr>
          <a:xfrm xmlns:a="http://schemas.openxmlformats.org/drawingml/2006/main">
            <a:off x="990600" y="2705100"/>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Hub + contextual panes</a:t>
            </a:r>
          </a:p>
          <a:p xmlns:a="http://schemas.openxmlformats.org/drawingml/2006/main">
            <a:pPr algn="ctr">
              <a:defRPr sz="938" b="0">
                <a:solidFill>
                  <a:srgbClr val="E4DFF1"/>
                </a:solidFill>
              </a:defRPr>
            </a:pPr>
            <a:r>
              <a:rPr sz="938" b="0">
                <a:solidFill>
                  <a:srgbClr val="E4DFF1"/>
                </a:solidFill>
              </a:rPr>
              <a:t>where work already lives</a:t>
            </a:r>
          </a:p>
        </p:txBody>
      </p:sp>
      <p:sp>
        <p:nvSpPr>
          <p:cNvPr id="10" name="">
            <a:extLst xmlns:a="http://schemas.openxmlformats.org/drawingml/2006/main">
              <a:ext uri="{FF2B5EF4-FFF2-40B4-BE49-F238E27FC236}">
                <a16:creationId xmlns:a16="http://schemas.microsoft.com/office/drawing/2014/main" id="{C9666FB4-0FD1-4F6F-9942-813C8BCFF695}"/>
              </a:ext>
            </a:extLst>
          </p:cNvPr>
          <p:cNvSpPr>
            <a:spLocks xmlns:a="http://schemas.openxmlformats.org/drawingml/2006/main" noGrp="1"/>
          </p:cNvSpPr>
          <p:nvPr/>
        </p:nvSpPr>
        <p:spPr>
          <a:xfrm xmlns:a="http://schemas.openxmlformats.org/drawingml/2006/main">
            <a:off x="876300" y="4210050"/>
            <a:ext cx="2667000" cy="1200150"/>
          </a:xfrm>
          <a:prstGeom xmlns:a="http://schemas.openxmlformats.org/drawingml/2006/main" prst="roundRect">
            <a:avLst>
              <a:gd name="adj" fmla="val 9524"/>
            </a:avLst>
          </a:prstGeom>
          <a:solidFill xmlns:a="http://schemas.openxmlformats.org/drawingml/2006/main">
            <a:srgbClr val="FF6F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83DE3B1-0F63-4358-945A-404AA13149A6}"/>
              </a:ext>
            </a:extLst>
          </p:cNvPr>
          <p:cNvSpPr>
            <a:spLocks xmlns:a="http://schemas.openxmlformats.org/drawingml/2006/main" noGrp="1"/>
          </p:cNvSpPr>
          <p:nvPr/>
        </p:nvSpPr>
        <p:spPr>
          <a:xfrm xmlns:a="http://schemas.openxmlformats.org/drawingml/2006/main">
            <a:off x="990600" y="4305300"/>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HANDS</a:t>
            </a:r>
          </a:p>
        </p:txBody>
      </p:sp>
      <p:sp>
        <p:nvSpPr>
          <p:cNvPr id="12" name="">
            <a:extLst xmlns:a="http://schemas.openxmlformats.org/drawingml/2006/main">
              <a:ext uri="{FF2B5EF4-FFF2-40B4-BE49-F238E27FC236}">
                <a16:creationId xmlns:a16="http://schemas.microsoft.com/office/drawing/2014/main" id="{59BA2145-E4AC-4D1C-9A3A-4CD606825E82}"/>
              </a:ext>
            </a:extLst>
          </p:cNvPr>
          <p:cNvSpPr>
            <a:spLocks xmlns:a="http://schemas.openxmlformats.org/drawingml/2006/main" noGrp="1"/>
          </p:cNvSpPr>
          <p:nvPr/>
        </p:nvSpPr>
        <p:spPr>
          <a:xfrm xmlns:a="http://schemas.openxmlformats.org/drawingml/2006/main">
            <a:off x="990600" y="4591050"/>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Memory tools + visible</a:t>
            </a:r>
          </a:p>
          <a:p xmlns:a="http://schemas.openxmlformats.org/drawingml/2006/main">
            <a:pPr algn="ctr">
              <a:defRPr sz="938" b="0">
                <a:solidFill>
                  <a:srgbClr val="E4DFF1"/>
                </a:solidFill>
              </a:defRPr>
            </a:pPr>
            <a:r>
              <a:rPr sz="938" b="0">
                <a:solidFill>
                  <a:srgbClr val="E4DFF1"/>
                </a:solidFill>
              </a:rPr>
              <a:t>product actions</a:t>
            </a:r>
          </a:p>
        </p:txBody>
      </p:sp>
      <p:sp>
        <p:nvSpPr>
          <p:cNvPr id="13" name="">
            <a:extLst xmlns:a="http://schemas.openxmlformats.org/drawingml/2006/main">
              <a:ext uri="{FF2B5EF4-FFF2-40B4-BE49-F238E27FC236}">
                <a16:creationId xmlns:a16="http://schemas.microsoft.com/office/drawing/2014/main" id="{DC33E114-75F5-41BA-B9F1-4A03ACDC1D02}"/>
              </a:ext>
            </a:extLst>
          </p:cNvPr>
          <p:cNvSpPr>
            <a:spLocks xmlns:a="http://schemas.openxmlformats.org/drawingml/2006/main" noGrp="1"/>
          </p:cNvSpPr>
          <p:nvPr/>
        </p:nvSpPr>
        <p:spPr>
          <a:xfrm xmlns:a="http://schemas.openxmlformats.org/drawingml/2006/main">
            <a:off x="8648700" y="3276600"/>
            <a:ext cx="2667000" cy="1200150"/>
          </a:xfrm>
          <a:prstGeom xmlns:a="http://schemas.openxmlformats.org/drawingml/2006/main" prst="roundRect">
            <a:avLst>
              <a:gd name="adj" fmla="val 9524"/>
            </a:avLst>
          </a:prstGeom>
          <a:solidFill xmlns:a="http://schemas.openxmlformats.org/drawingml/2006/main">
            <a:srgbClr val="63D8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8C27B30-94AC-4BDC-8540-A3F77C725DB8}"/>
              </a:ext>
            </a:extLst>
          </p:cNvPr>
          <p:cNvSpPr>
            <a:spLocks xmlns:a="http://schemas.openxmlformats.org/drawingml/2006/main" noGrp="1"/>
          </p:cNvSpPr>
          <p:nvPr/>
        </p:nvSpPr>
        <p:spPr>
          <a:xfrm xmlns:a="http://schemas.openxmlformats.org/drawingml/2006/main">
            <a:off x="8763000" y="3371850"/>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0C0922"/>
                </a:solidFill>
              </a:defRPr>
            </a:pPr>
            <a:r>
              <a:rPr sz="1275" b="1">
                <a:solidFill>
                  <a:srgbClr val="0C0922"/>
                </a:solidFill>
              </a:rPr>
              <a:t>SIGNALS</a:t>
            </a:r>
          </a:p>
        </p:txBody>
      </p:sp>
      <p:sp>
        <p:nvSpPr>
          <p:cNvPr id="15" name="">
            <a:extLst xmlns:a="http://schemas.openxmlformats.org/drawingml/2006/main">
              <a:ext uri="{FF2B5EF4-FFF2-40B4-BE49-F238E27FC236}">
                <a16:creationId xmlns:a16="http://schemas.microsoft.com/office/drawing/2014/main" id="{E6E0C44A-BD87-4AD8-B50D-5A1E7D16928F}"/>
              </a:ext>
            </a:extLst>
          </p:cNvPr>
          <p:cNvSpPr>
            <a:spLocks xmlns:a="http://schemas.openxmlformats.org/drawingml/2006/main" noGrp="1"/>
          </p:cNvSpPr>
          <p:nvPr/>
        </p:nvSpPr>
        <p:spPr>
          <a:xfrm xmlns:a="http://schemas.openxmlformats.org/drawingml/2006/main">
            <a:off x="8763000" y="3657600"/>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716A7C"/>
                </a:solidFill>
              </a:defRPr>
            </a:pPr>
            <a:r>
              <a:rPr sz="938" b="0">
                <a:solidFill>
                  <a:srgbClr val="716A7C"/>
                </a:solidFill>
              </a:rPr>
              <a:t>Call events + rules +</a:t>
            </a:r>
          </a:p>
          <a:p xmlns:a="http://schemas.openxmlformats.org/drawingml/2006/main">
            <a:pPr algn="ctr">
              <a:defRPr sz="938" b="0">
                <a:solidFill>
                  <a:srgbClr val="716A7C"/>
                </a:solidFill>
              </a:defRPr>
            </a:pPr>
            <a:r>
              <a:rPr sz="938" b="0">
                <a:solidFill>
                  <a:srgbClr val="716A7C"/>
                </a:solidFill>
              </a:rPr>
              <a:t>timely briefs</a:t>
            </a:r>
          </a:p>
        </p:txBody>
      </p:sp>
      <p:cxnSp>
        <p:nvCxnSpPr>
          <p:cNvPr id="44" name=""/>
          <p:cNvCxnSpPr>
            <a:stCxn xmlns:a="http://schemas.openxmlformats.org/drawingml/2006/main" id="7" idx="3"/>
            <a:endCxn xmlns:a="http://schemas.openxmlformats.org/drawingml/2006/main" id="4" idx="1"/>
          </p:cNvCxnSpPr>
          <p:nvPr/>
        </p:nvCxnSpPr>
        <p:spPr>
          <a:xfrm xmlns:a="http://schemas.openxmlformats.org/drawingml/2006/main">
            <a:off x="3543300" y="2924175"/>
            <a:ext cx="1314450" cy="800100"/>
          </a:xfrm>
          <a:prstGeom xmlns:a="http://schemas.openxmlformats.org/drawingml/2006/main" prst="bentConnector3">
            <a:avLst>
              <a:gd name="adj1" fmla="val 50000"/>
            </a:avLst>
          </a:prstGeom>
          <a:ln xmlns:a="http://schemas.openxmlformats.org/drawingml/2006/main" w="20955">
            <a:solidFill>
              <a:srgbClr val="6F43E7"/>
            </a:solidFill>
            <a:prstDash val="solid"/>
            <a:tailEnd type="arrow" w="med" len="med"/>
          </a:ln>
        </p:spPr>
      </p:cxnSp>
      <p:cxnSp>
        <p:nvCxnSpPr>
          <p:cNvPr id="45" name=""/>
          <p:cNvCxnSpPr>
            <a:stCxn xmlns:a="http://schemas.openxmlformats.org/drawingml/2006/main" id="10" idx="3"/>
            <a:endCxn xmlns:a="http://schemas.openxmlformats.org/drawingml/2006/main" id="4" idx="1"/>
          </p:cNvCxnSpPr>
          <p:nvPr/>
        </p:nvCxnSpPr>
        <p:spPr>
          <a:xfrm xmlns:a="http://schemas.openxmlformats.org/drawingml/2006/main" flipV="1">
            <a:off x="3543300" y="3724275"/>
            <a:ext cx="1314450" cy="1085850"/>
          </a:xfrm>
          <a:prstGeom xmlns:a="http://schemas.openxmlformats.org/drawingml/2006/main" prst="bentConnector3">
            <a:avLst>
              <a:gd name="adj1" fmla="val 17391"/>
            </a:avLst>
          </a:prstGeom>
          <a:ln xmlns:a="http://schemas.openxmlformats.org/drawingml/2006/main" w="20955">
            <a:solidFill>
              <a:srgbClr val="FF6F61"/>
            </a:solidFill>
            <a:prstDash val="solid"/>
            <a:tailEnd type="arrow" w="med" len="med"/>
          </a:ln>
        </p:spPr>
      </p:cxnSp>
      <p:cxnSp>
        <p:nvCxnSpPr>
          <p:cNvPr id="46" name=""/>
          <p:cNvCxnSpPr>
            <a:stCxn xmlns:a="http://schemas.openxmlformats.org/drawingml/2006/main" id="4" idx="3"/>
            <a:endCxn xmlns:a="http://schemas.openxmlformats.org/drawingml/2006/main" id="13" idx="1"/>
          </p:cNvCxnSpPr>
          <p:nvPr/>
        </p:nvCxnSpPr>
        <p:spPr>
          <a:xfrm xmlns:a="http://schemas.openxmlformats.org/drawingml/2006/main">
            <a:off x="7334250" y="3724275"/>
            <a:ext cx="1314450" cy="152400"/>
          </a:xfrm>
          <a:prstGeom xmlns:a="http://schemas.openxmlformats.org/drawingml/2006/main" prst="bentConnector3">
            <a:avLst>
              <a:gd name="adj1" fmla="val 50000"/>
            </a:avLst>
          </a:prstGeom>
          <a:ln xmlns:a="http://schemas.openxmlformats.org/drawingml/2006/main" w="20955">
            <a:solidFill>
              <a:srgbClr val="63D8FF"/>
            </a:solidFill>
            <a:prstDash val="solid"/>
            <a:tailEnd type="arrow" w="med" len="med"/>
          </a:ln>
        </p:spPr>
      </p:cxnSp>
      <p:sp>
        <p:nvSpPr>
          <p:cNvPr id="19" name="">
            <a:extLst xmlns:a="http://schemas.openxmlformats.org/drawingml/2006/main">
              <a:ext uri="{FF2B5EF4-FFF2-40B4-BE49-F238E27FC236}">
                <a16:creationId xmlns:a16="http://schemas.microsoft.com/office/drawing/2014/main" id="{FD1F0407-A1FF-4889-B86F-48FAE040E3E6}"/>
              </a:ext>
            </a:extLst>
          </p:cNvPr>
          <p:cNvSpPr>
            <a:spLocks xmlns:a="http://schemas.openxmlformats.org/drawingml/2006/main" noGrp="1"/>
          </p:cNvSpPr>
          <p:nvPr/>
        </p:nvSpPr>
        <p:spPr>
          <a:xfrm xmlns:a="http://schemas.openxmlformats.org/drawingml/2006/main">
            <a:off x="4286250" y="4876800"/>
            <a:ext cx="1104900" cy="323850"/>
          </a:xfrm>
          <a:prstGeom xmlns:a="http://schemas.openxmlformats.org/drawingml/2006/main" prst="roundRect">
            <a:avLst>
              <a:gd name="adj" fmla="val 50000"/>
            </a:avLst>
          </a:prstGeom>
          <a:solidFill xmlns:a="http://schemas.openxmlformats.org/drawingml/2006/main">
            <a:srgbClr val="ECE9F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D74C3C5-7761-4BD8-9F5C-EC59829159EA}"/>
              </a:ext>
            </a:extLst>
          </p:cNvPr>
          <p:cNvSpPr>
            <a:spLocks xmlns:a="http://schemas.openxmlformats.org/drawingml/2006/main" noGrp="1"/>
          </p:cNvSpPr>
          <p:nvPr/>
        </p:nvSpPr>
        <p:spPr>
          <a:xfrm xmlns:a="http://schemas.openxmlformats.org/drawingml/2006/main">
            <a:off x="4381500" y="4905375"/>
            <a:ext cx="914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716A7C"/>
                </a:solidFill>
              </a:defRPr>
            </a:pPr>
            <a:r>
              <a:rPr sz="1050" b="1">
                <a:solidFill>
                  <a:srgbClr val="716A7C"/>
                </a:solidFill>
              </a:rPr>
              <a:t>WATCH</a:t>
            </a:r>
          </a:p>
        </p:txBody>
      </p:sp>
      <p:sp>
        <p:nvSpPr>
          <p:cNvPr id="21" name="">
            <a:extLst xmlns:a="http://schemas.openxmlformats.org/drawingml/2006/main">
              <a:ext uri="{FF2B5EF4-FFF2-40B4-BE49-F238E27FC236}">
                <a16:creationId xmlns:a16="http://schemas.microsoft.com/office/drawing/2014/main" id="{AF634E23-CFE6-4658-BCD0-6B0AEC93996E}"/>
              </a:ext>
            </a:extLst>
          </p:cNvPr>
          <p:cNvSpPr>
            <a:spLocks xmlns:a="http://schemas.openxmlformats.org/drawingml/2006/main" noGrp="1"/>
          </p:cNvSpPr>
          <p:nvPr/>
        </p:nvSpPr>
        <p:spPr>
          <a:xfrm xmlns:a="http://schemas.openxmlformats.org/drawingml/2006/main">
            <a:off x="5543550" y="4876800"/>
            <a:ext cx="1104900" cy="323850"/>
          </a:xfrm>
          <a:prstGeom xmlns:a="http://schemas.openxmlformats.org/drawingml/2006/main" prst="roundRect">
            <a:avLst>
              <a:gd name="adj" fmla="val 50000"/>
            </a:avLst>
          </a:prstGeom>
          <a:solidFill xmlns:a="http://schemas.openxmlformats.org/drawingml/2006/main">
            <a:srgbClr val="EEE7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7ECD24B-C657-4322-BD99-0BA5FC03C22E}"/>
              </a:ext>
            </a:extLst>
          </p:cNvPr>
          <p:cNvSpPr>
            <a:spLocks xmlns:a="http://schemas.openxmlformats.org/drawingml/2006/main" noGrp="1"/>
          </p:cNvSpPr>
          <p:nvPr/>
        </p:nvSpPr>
        <p:spPr>
          <a:xfrm xmlns:a="http://schemas.openxmlformats.org/drawingml/2006/main">
            <a:off x="5638800" y="4905375"/>
            <a:ext cx="914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6F43E7"/>
                </a:solidFill>
              </a:defRPr>
            </a:pPr>
            <a:r>
              <a:rPr sz="1050" b="1">
                <a:solidFill>
                  <a:srgbClr val="6F43E7"/>
                </a:solidFill>
              </a:rPr>
              <a:t>ASSIST</a:t>
            </a:r>
          </a:p>
        </p:txBody>
      </p:sp>
      <p:sp>
        <p:nvSpPr>
          <p:cNvPr id="23" name="">
            <a:extLst xmlns:a="http://schemas.openxmlformats.org/drawingml/2006/main">
              <a:ext uri="{FF2B5EF4-FFF2-40B4-BE49-F238E27FC236}">
                <a16:creationId xmlns:a16="http://schemas.microsoft.com/office/drawing/2014/main" id="{BC94BE0E-4E6C-4574-8218-C127C2400737}"/>
              </a:ext>
            </a:extLst>
          </p:cNvPr>
          <p:cNvSpPr>
            <a:spLocks xmlns:a="http://schemas.openxmlformats.org/drawingml/2006/main" noGrp="1"/>
          </p:cNvSpPr>
          <p:nvPr/>
        </p:nvSpPr>
        <p:spPr>
          <a:xfrm xmlns:a="http://schemas.openxmlformats.org/drawingml/2006/main">
            <a:off x="6800850" y="4876800"/>
            <a:ext cx="1104900" cy="323850"/>
          </a:xfrm>
          <a:prstGeom xmlns:a="http://schemas.openxmlformats.org/drawingml/2006/main" prst="roundRect">
            <a:avLst>
              <a:gd name="adj" fmla="val 50000"/>
            </a:avLst>
          </a:prstGeom>
          <a:solidFill xmlns:a="http://schemas.openxmlformats.org/drawingml/2006/main">
            <a:srgbClr val="FFF0E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465F187-746C-4A7B-9C2B-2D83FBE244A8}"/>
              </a:ext>
            </a:extLst>
          </p:cNvPr>
          <p:cNvSpPr>
            <a:spLocks xmlns:a="http://schemas.openxmlformats.org/drawingml/2006/main" noGrp="1"/>
          </p:cNvSpPr>
          <p:nvPr/>
        </p:nvSpPr>
        <p:spPr>
          <a:xfrm xmlns:a="http://schemas.openxmlformats.org/drawingml/2006/main">
            <a:off x="6896100" y="4905375"/>
            <a:ext cx="914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B44235"/>
                </a:solidFill>
              </a:defRPr>
            </a:pPr>
            <a:r>
              <a:rPr sz="1050" b="1">
                <a:solidFill>
                  <a:srgbClr val="B44235"/>
                </a:solidFill>
              </a:rPr>
              <a:t>ACT</a:t>
            </a:r>
          </a:p>
        </p:txBody>
      </p:sp>
      <p:sp>
        <p:nvSpPr>
          <p:cNvPr id="25" name="">
            <a:extLst xmlns:a="http://schemas.openxmlformats.org/drawingml/2006/main">
              <a:ext uri="{FF2B5EF4-FFF2-40B4-BE49-F238E27FC236}">
                <a16:creationId xmlns:a16="http://schemas.microsoft.com/office/drawing/2014/main" id="{6C4C9C7E-5F1E-4815-A4E2-7E87F61D8033}"/>
              </a:ext>
            </a:extLst>
          </p:cNvPr>
          <p:cNvSpPr>
            <a:spLocks xmlns:a="http://schemas.openxmlformats.org/drawingml/2006/main" noGrp="1"/>
          </p:cNvSpPr>
          <p:nvPr/>
        </p:nvSpPr>
        <p:spPr>
          <a:xfrm xmlns:a="http://schemas.openxmlformats.org/drawingml/2006/main">
            <a:off x="3314700" y="5562600"/>
            <a:ext cx="556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81424"/>
                </a:solidFill>
              </a:defRPr>
            </a:pPr>
            <a:r>
              <a:rPr sz="1650" b="1">
                <a:solidFill>
                  <a:srgbClr val="181424"/>
                </a:solidFill>
              </a:rPr>
              <a:t>Autonomy changes exposed effects—not the model’s authority.</a:t>
            </a:r>
          </a:p>
        </p:txBody>
      </p:sp>
      <p:sp>
        <p:nvSpPr>
          <p:cNvPr id="26" name="">
            <a:extLst xmlns:a="http://schemas.openxmlformats.org/drawingml/2006/main">
              <a:ext uri="{FF2B5EF4-FFF2-40B4-BE49-F238E27FC236}">
                <a16:creationId xmlns:a16="http://schemas.microsoft.com/office/drawing/2014/main" id="{E23233A3-06C4-4618-8C47-380765D6C2B5}"/>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DD7E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DB71C7-5274-4C2F-B0CF-890B70631EA4}"/>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43E7"/>
                </a:solidFill>
              </a:defRPr>
            </a:pPr>
            <a:r>
              <a:rPr sz="750" b="1">
                <a:solidFill>
                  <a:srgbClr val="6F43E7"/>
                </a:solidFill>
              </a:rPr>
              <a:t>NEURAI PLATFORM</a:t>
            </a:r>
          </a:p>
        </p:txBody>
      </p:sp>
      <p:sp>
        <p:nvSpPr>
          <p:cNvPr id="28" name="">
            <a:extLst xmlns:a="http://schemas.openxmlformats.org/drawingml/2006/main">
              <a:ext uri="{FF2B5EF4-FFF2-40B4-BE49-F238E27FC236}">
                <a16:creationId xmlns:a16="http://schemas.microsoft.com/office/drawing/2014/main" id="{63907F9C-1C4F-42DA-9725-0AE34D87E479}"/>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716A7C"/>
                </a:solidFill>
              </a:defRPr>
            </a:pPr>
            <a:r>
              <a:rPr sz="750" b="1">
                <a:solidFill>
                  <a:srgbClr val="716A7C"/>
                </a:solidFill>
              </a:rPr>
              <a:t>05</a:t>
            </a:r>
          </a:p>
        </p:txBody>
      </p:sp>
    </p:spTree>
    <p:extLst>
      <p:ext uri="{BB962C8B-B14F-4D97-AF65-F5344CB8AC3E}">
        <p14:creationId xmlns:p14="http://schemas.microsoft.com/office/powerpoint/2010/main" val="772185606"/>
      </p:ext>
    </p:extLst>
  </p:cSld>
</p:sld>
</file>

<file path=ppt/slides/slide6.xml><?xml version="1.0" encoding="utf-8"?>
<p:sld xmlns:p="http://schemas.openxmlformats.org/presentationml/2006/main">
  <p:cSld>
    <p:bg>
      <p:bgPr>
        <a:solidFill xmlns:a="http://schemas.openxmlformats.org/drawingml/2006/main">
          <a:srgbClr val="0C0922"/>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4092F0D2-588B-4D07-82BF-8220411E5C72}"/>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B6DFF"/>
                </a:solidFill>
              </a:defRPr>
            </a:pPr>
            <a:r>
              <a:rPr sz="975" b="1">
                <a:solidFill>
                  <a:srgbClr val="9B6DFF"/>
                </a:solidFill>
              </a:rPr>
              <a:t>THE ARCHITECTURE</a:t>
            </a:r>
          </a:p>
        </p:txBody>
      </p:sp>
      <p:sp>
        <p:nvSpPr>
          <p:cNvPr id="2" name="">
            <a:extLst xmlns:a="http://schemas.openxmlformats.org/drawingml/2006/main">
              <a:ext uri="{FF2B5EF4-FFF2-40B4-BE49-F238E27FC236}">
                <a16:creationId xmlns:a16="http://schemas.microsoft.com/office/drawing/2014/main" id="{DF98212A-8349-48AB-9249-266D5D580C46}"/>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defRPr>
            </a:pPr>
            <a:r>
              <a:rPr sz="2850" b="1">
                <a:solidFill>
                  <a:srgbClr val="FFFFFF"/>
                </a:solidFill>
              </a:rPr>
              <a:t>Four parts. Three planes. Explicit authority at every seam.</a:t>
            </a:r>
          </a:p>
        </p:txBody>
      </p:sp>
      <p:sp>
        <p:nvSpPr>
          <p:cNvPr id="3" name="">
            <a:extLst xmlns:a="http://schemas.openxmlformats.org/drawingml/2006/main">
              <a:ext uri="{FF2B5EF4-FFF2-40B4-BE49-F238E27FC236}">
                <a16:creationId xmlns:a16="http://schemas.microsoft.com/office/drawing/2014/main" id="{12909D91-7C1E-4FC3-8CAD-9EB6A476BD90}"/>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2CAE8"/>
                </a:solidFill>
              </a:defRPr>
            </a:pPr>
            <a:r>
              <a:rPr sz="1350" b="0">
                <a:solidFill>
                  <a:srgbClr val="D2CAE8"/>
                </a:solidFill>
              </a:rPr>
              <a:t>A deliberately small topology with strong boundaries—not a maze of nominal services.</a:t>
            </a:r>
          </a:p>
        </p:txBody>
      </p:sp>
      <p:sp>
        <p:nvSpPr>
          <p:cNvPr id="4" name="">
            <a:extLst xmlns:a="http://schemas.openxmlformats.org/drawingml/2006/main">
              <a:ext uri="{FF2B5EF4-FFF2-40B4-BE49-F238E27FC236}">
                <a16:creationId xmlns:a16="http://schemas.microsoft.com/office/drawing/2014/main" id="{42ACE9CA-53CE-4FCB-9739-C4196F114AF3}"/>
              </a:ext>
            </a:extLst>
          </p:cNvPr>
          <p:cNvSpPr>
            <a:spLocks xmlns:a="http://schemas.openxmlformats.org/drawingml/2006/main" noGrp="1"/>
          </p:cNvSpPr>
          <p:nvPr/>
        </p:nvSpPr>
        <p:spPr>
          <a:xfrm xmlns:a="http://schemas.openxmlformats.org/drawingml/2006/main">
            <a:off x="571500" y="2057400"/>
            <a:ext cx="11049000" cy="1143000"/>
          </a:xfrm>
          <a:prstGeom xmlns:a="http://schemas.openxmlformats.org/drawingml/2006/main" prst="roundRect">
            <a:avLst>
              <a:gd name="adj" fmla="val 10000"/>
            </a:avLst>
          </a:prstGeom>
          <a:solidFill xmlns:a="http://schemas.openxmlformats.org/drawingml/2006/main">
            <a:srgbClr val="15112E"/>
          </a:solidFill>
          <a:ln xmlns:a="http://schemas.openxmlformats.org/drawingml/2006/main" w="9525">
            <a:solidFill>
              <a:srgbClr val="352B51"/>
            </a:solidFill>
            <a:prstDash val="solid"/>
          </a:ln>
        </p:spPr>
      </p:sp>
      <p:sp>
        <p:nvSpPr>
          <p:cNvPr id="5" name="">
            <a:extLst xmlns:a="http://schemas.openxmlformats.org/drawingml/2006/main">
              <a:ext uri="{FF2B5EF4-FFF2-40B4-BE49-F238E27FC236}">
                <a16:creationId xmlns:a16="http://schemas.microsoft.com/office/drawing/2014/main" id="{2F289000-C5F4-4AB3-AD5A-15180E751ABB}"/>
              </a:ext>
            </a:extLst>
          </p:cNvPr>
          <p:cNvSpPr>
            <a:spLocks xmlns:a="http://schemas.openxmlformats.org/drawingml/2006/main" noGrp="1"/>
          </p:cNvSpPr>
          <p:nvPr/>
        </p:nvSpPr>
        <p:spPr>
          <a:xfrm xmlns:a="http://schemas.openxmlformats.org/drawingml/2006/main">
            <a:off x="571500" y="3371850"/>
            <a:ext cx="11049000" cy="1200150"/>
          </a:xfrm>
          <a:prstGeom xmlns:a="http://schemas.openxmlformats.org/drawingml/2006/main" prst="roundRect">
            <a:avLst>
              <a:gd name="adj" fmla="val 9524"/>
            </a:avLst>
          </a:prstGeom>
          <a:solidFill xmlns:a="http://schemas.openxmlformats.org/drawingml/2006/main">
            <a:srgbClr val="171334"/>
          </a:solidFill>
          <a:ln xmlns:a="http://schemas.openxmlformats.org/drawingml/2006/main" w="9525">
            <a:solidFill>
              <a:srgbClr val="352B51"/>
            </a:solidFill>
            <a:prstDash val="solid"/>
          </a:ln>
        </p:spPr>
      </p:sp>
      <p:sp>
        <p:nvSpPr>
          <p:cNvPr id="6" name="">
            <a:extLst xmlns:a="http://schemas.openxmlformats.org/drawingml/2006/main">
              <a:ext uri="{FF2B5EF4-FFF2-40B4-BE49-F238E27FC236}">
                <a16:creationId xmlns:a16="http://schemas.microsoft.com/office/drawing/2014/main" id="{EFB3C85A-28E3-4763-ABAD-7E6654C58B62}"/>
              </a:ext>
            </a:extLst>
          </p:cNvPr>
          <p:cNvSpPr>
            <a:spLocks xmlns:a="http://schemas.openxmlformats.org/drawingml/2006/main" noGrp="1"/>
          </p:cNvSpPr>
          <p:nvPr/>
        </p:nvSpPr>
        <p:spPr>
          <a:xfrm xmlns:a="http://schemas.openxmlformats.org/drawingml/2006/main">
            <a:off x="571500" y="4743450"/>
            <a:ext cx="11049000" cy="1257300"/>
          </a:xfrm>
          <a:prstGeom xmlns:a="http://schemas.openxmlformats.org/drawingml/2006/main" prst="roundRect">
            <a:avLst>
              <a:gd name="adj" fmla="val 9091"/>
            </a:avLst>
          </a:prstGeom>
          <a:solidFill xmlns:a="http://schemas.openxmlformats.org/drawingml/2006/main">
            <a:srgbClr val="15112E"/>
          </a:solidFill>
          <a:ln xmlns:a="http://schemas.openxmlformats.org/drawingml/2006/main" w="9525">
            <a:solidFill>
              <a:srgbClr val="352B51"/>
            </a:solidFill>
            <a:prstDash val="solid"/>
          </a:ln>
        </p:spPr>
      </p:sp>
      <p:sp>
        <p:nvSpPr>
          <p:cNvPr id="7" name="">
            <a:extLst xmlns:a="http://schemas.openxmlformats.org/drawingml/2006/main">
              <a:ext uri="{FF2B5EF4-FFF2-40B4-BE49-F238E27FC236}">
                <a16:creationId xmlns:a16="http://schemas.microsoft.com/office/drawing/2014/main" id="{93FD8B2E-1384-4636-98E5-148DE4A69E43}"/>
              </a:ext>
            </a:extLst>
          </p:cNvPr>
          <p:cNvSpPr>
            <a:spLocks xmlns:a="http://schemas.openxmlformats.org/drawingml/2006/main" noGrp="1"/>
          </p:cNvSpPr>
          <p:nvPr/>
        </p:nvSpPr>
        <p:spPr>
          <a:xfrm xmlns:a="http://schemas.openxmlformats.org/drawingml/2006/main">
            <a:off x="704850" y="220980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3D8FF"/>
                </a:solidFill>
              </a:defRPr>
            </a:pPr>
            <a:r>
              <a:rPr sz="825" b="1">
                <a:solidFill>
                  <a:srgbClr val="63D8FF"/>
                </a:solidFill>
              </a:rPr>
              <a:t>EXPERIENCE</a:t>
            </a:r>
          </a:p>
        </p:txBody>
      </p:sp>
      <p:sp>
        <p:nvSpPr>
          <p:cNvPr id="8" name="">
            <a:extLst xmlns:a="http://schemas.openxmlformats.org/drawingml/2006/main">
              <a:ext uri="{FF2B5EF4-FFF2-40B4-BE49-F238E27FC236}">
                <a16:creationId xmlns:a16="http://schemas.microsoft.com/office/drawing/2014/main" id="{B39063FB-793F-49A9-9621-5AFA530CAB84}"/>
              </a:ext>
            </a:extLst>
          </p:cNvPr>
          <p:cNvSpPr>
            <a:spLocks xmlns:a="http://schemas.openxmlformats.org/drawingml/2006/main" noGrp="1"/>
          </p:cNvSpPr>
          <p:nvPr/>
        </p:nvSpPr>
        <p:spPr>
          <a:xfrm xmlns:a="http://schemas.openxmlformats.org/drawingml/2006/main">
            <a:off x="704850" y="352425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9B6DFF"/>
                </a:solidFill>
              </a:defRPr>
            </a:pPr>
            <a:r>
              <a:rPr sz="825" b="1">
                <a:solidFill>
                  <a:srgbClr val="9B6DFF"/>
                </a:solidFill>
              </a:rPr>
              <a:t>CONTROL</a:t>
            </a:r>
          </a:p>
        </p:txBody>
      </p:sp>
      <p:sp>
        <p:nvSpPr>
          <p:cNvPr id="9" name="">
            <a:extLst xmlns:a="http://schemas.openxmlformats.org/drawingml/2006/main">
              <a:ext uri="{FF2B5EF4-FFF2-40B4-BE49-F238E27FC236}">
                <a16:creationId xmlns:a16="http://schemas.microsoft.com/office/drawing/2014/main" id="{80887D37-7F6E-4E42-ACA1-8BBCCEEA9349}"/>
              </a:ext>
            </a:extLst>
          </p:cNvPr>
          <p:cNvSpPr>
            <a:spLocks xmlns:a="http://schemas.openxmlformats.org/drawingml/2006/main" noGrp="1"/>
          </p:cNvSpPr>
          <p:nvPr/>
        </p:nvSpPr>
        <p:spPr>
          <a:xfrm xmlns:a="http://schemas.openxmlformats.org/drawingml/2006/main">
            <a:off x="704850" y="489585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6F61"/>
                </a:solidFill>
              </a:defRPr>
            </a:pPr>
            <a:r>
              <a:rPr sz="825" b="1">
                <a:solidFill>
                  <a:srgbClr val="FF6F61"/>
                </a:solidFill>
              </a:rPr>
              <a:t>DATA</a:t>
            </a:r>
          </a:p>
        </p:txBody>
      </p:sp>
      <p:sp>
        <p:nvSpPr>
          <p:cNvPr id="10" name="">
            <a:extLst xmlns:a="http://schemas.openxmlformats.org/drawingml/2006/main">
              <a:ext uri="{FF2B5EF4-FFF2-40B4-BE49-F238E27FC236}">
                <a16:creationId xmlns:a16="http://schemas.microsoft.com/office/drawing/2014/main" id="{D137F6C0-BAD2-4CE7-8DB0-5A19BA46D00B}"/>
              </a:ext>
            </a:extLst>
          </p:cNvPr>
          <p:cNvSpPr>
            <a:spLocks xmlns:a="http://schemas.openxmlformats.org/drawingml/2006/main" noGrp="1"/>
          </p:cNvSpPr>
          <p:nvPr/>
        </p:nvSpPr>
        <p:spPr>
          <a:xfrm xmlns:a="http://schemas.openxmlformats.org/drawingml/2006/main">
            <a:off x="2000250" y="2343150"/>
            <a:ext cx="2000250" cy="666750"/>
          </a:xfrm>
          <a:prstGeom xmlns:a="http://schemas.openxmlformats.org/drawingml/2006/main" prst="roundRect">
            <a:avLst>
              <a:gd name="adj" fmla="val 17143"/>
            </a:avLst>
          </a:prstGeom>
          <a:solidFill xmlns:a="http://schemas.openxmlformats.org/drawingml/2006/main">
            <a:srgbClr val="6F43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7B5FE09-7CE1-492F-846B-FCBF8B38BB9E}"/>
              </a:ext>
            </a:extLst>
          </p:cNvPr>
          <p:cNvSpPr>
            <a:spLocks xmlns:a="http://schemas.openxmlformats.org/drawingml/2006/main" noGrp="1"/>
          </p:cNvSpPr>
          <p:nvPr/>
        </p:nvSpPr>
        <p:spPr>
          <a:xfrm xmlns:a="http://schemas.openxmlformats.org/drawingml/2006/main">
            <a:off x="2114550" y="24384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Browser</a:t>
            </a:r>
          </a:p>
        </p:txBody>
      </p:sp>
      <p:sp>
        <p:nvSpPr>
          <p:cNvPr id="12" name="">
            <a:extLst xmlns:a="http://schemas.openxmlformats.org/drawingml/2006/main">
              <a:ext uri="{FF2B5EF4-FFF2-40B4-BE49-F238E27FC236}">
                <a16:creationId xmlns:a16="http://schemas.microsoft.com/office/drawing/2014/main" id="{36B0AAAA-5142-4F70-942B-3EB6C1FAE3AF}"/>
              </a:ext>
            </a:extLst>
          </p:cNvPr>
          <p:cNvSpPr>
            <a:spLocks xmlns:a="http://schemas.openxmlformats.org/drawingml/2006/main" noGrp="1"/>
          </p:cNvSpPr>
          <p:nvPr/>
        </p:nvSpPr>
        <p:spPr>
          <a:xfrm xmlns:a="http://schemas.openxmlformats.org/drawingml/2006/main">
            <a:off x="2114550" y="27241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3294"/>
          </a:bodyPr>
          <a:lstStyle xmlns:a="http://schemas.openxmlformats.org/drawingml/2006/main"/>
          <a:p xmlns:a="http://schemas.openxmlformats.org/drawingml/2006/main">
            <a:pPr algn="ctr">
              <a:defRPr sz="938" b="0">
                <a:solidFill>
                  <a:srgbClr val="E4DFF1"/>
                </a:solidFill>
              </a:defRPr>
            </a:pPr>
            <a:r>
              <a:rPr sz="938" b="0">
                <a:solidFill>
                  <a:srgbClr val="E4DFF1"/>
                </a:solidFill>
              </a:rPr>
              <a:t>Next.js UI</a:t>
            </a:r>
          </a:p>
          <a:p xmlns:a="http://schemas.openxmlformats.org/drawingml/2006/main">
            <a:pPr algn="ctr">
              <a:defRPr sz="938" b="0">
                <a:solidFill>
                  <a:srgbClr val="E4DFF1"/>
                </a:solidFill>
              </a:defRPr>
            </a:pPr>
            <a:r>
              <a:rPr sz="938" b="0">
                <a:solidFill>
                  <a:srgbClr val="E4DFF1"/>
                </a:solidFill>
              </a:rPr>
              <a:t>IndexedDB buffer</a:t>
            </a:r>
          </a:p>
        </p:txBody>
      </p:sp>
      <p:sp>
        <p:nvSpPr>
          <p:cNvPr id="13" name="">
            <a:extLst xmlns:a="http://schemas.openxmlformats.org/drawingml/2006/main">
              <a:ext uri="{FF2B5EF4-FFF2-40B4-BE49-F238E27FC236}">
                <a16:creationId xmlns:a16="http://schemas.microsoft.com/office/drawing/2014/main" id="{444A0FAC-9016-4D93-9A4C-B1C19CC7C985}"/>
              </a:ext>
            </a:extLst>
          </p:cNvPr>
          <p:cNvSpPr>
            <a:spLocks xmlns:a="http://schemas.openxmlformats.org/drawingml/2006/main" noGrp="1"/>
          </p:cNvSpPr>
          <p:nvPr/>
        </p:nvSpPr>
        <p:spPr>
          <a:xfrm xmlns:a="http://schemas.openxmlformats.org/drawingml/2006/main">
            <a:off x="4743450" y="2343150"/>
            <a:ext cx="1809750" cy="666750"/>
          </a:xfrm>
          <a:prstGeom xmlns:a="http://schemas.openxmlformats.org/drawingml/2006/main" prst="roundRect">
            <a:avLst>
              <a:gd name="adj" fmla="val 17143"/>
            </a:avLst>
          </a:prstGeom>
          <a:solidFill xmlns:a="http://schemas.openxmlformats.org/drawingml/2006/main">
            <a:srgbClr val="9B6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4D5828-5D6C-4368-AE35-BFE9DC38C6D7}"/>
              </a:ext>
            </a:extLst>
          </p:cNvPr>
          <p:cNvSpPr>
            <a:spLocks xmlns:a="http://schemas.openxmlformats.org/drawingml/2006/main" noGrp="1"/>
          </p:cNvSpPr>
          <p:nvPr/>
        </p:nvSpPr>
        <p:spPr>
          <a:xfrm xmlns:a="http://schemas.openxmlformats.org/drawingml/2006/main">
            <a:off x="4857750" y="24384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BFF</a:t>
            </a:r>
          </a:p>
        </p:txBody>
      </p:sp>
      <p:sp>
        <p:nvSpPr>
          <p:cNvPr id="15" name="">
            <a:extLst xmlns:a="http://schemas.openxmlformats.org/drawingml/2006/main">
              <a:ext uri="{FF2B5EF4-FFF2-40B4-BE49-F238E27FC236}">
                <a16:creationId xmlns:a16="http://schemas.microsoft.com/office/drawing/2014/main" id="{00A081C3-F104-40B0-9BB4-B8C4E62AB1EC}"/>
              </a:ext>
            </a:extLst>
          </p:cNvPr>
          <p:cNvSpPr>
            <a:spLocks xmlns:a="http://schemas.openxmlformats.org/drawingml/2006/main" noGrp="1"/>
          </p:cNvSpPr>
          <p:nvPr/>
        </p:nvSpPr>
        <p:spPr>
          <a:xfrm xmlns:a="http://schemas.openxmlformats.org/drawingml/2006/main">
            <a:off x="4857750" y="2724150"/>
            <a:ext cx="1581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secure cookies · proxy</a:t>
            </a:r>
          </a:p>
        </p:txBody>
      </p:sp>
      <p:sp>
        <p:nvSpPr>
          <p:cNvPr id="16" name="">
            <a:extLst xmlns:a="http://schemas.openxmlformats.org/drawingml/2006/main">
              <a:ext uri="{FF2B5EF4-FFF2-40B4-BE49-F238E27FC236}">
                <a16:creationId xmlns:a16="http://schemas.microsoft.com/office/drawing/2014/main" id="{1A238B85-1978-4097-9AC8-8159E4113790}"/>
              </a:ext>
            </a:extLst>
          </p:cNvPr>
          <p:cNvSpPr>
            <a:spLocks xmlns:a="http://schemas.openxmlformats.org/drawingml/2006/main" noGrp="1"/>
          </p:cNvSpPr>
          <p:nvPr/>
        </p:nvSpPr>
        <p:spPr>
          <a:xfrm xmlns:a="http://schemas.openxmlformats.org/drawingml/2006/main">
            <a:off x="7296150" y="2343150"/>
            <a:ext cx="2000250" cy="666750"/>
          </a:xfrm>
          <a:prstGeom xmlns:a="http://schemas.openxmlformats.org/drawingml/2006/main" prst="roundRect">
            <a:avLst>
              <a:gd name="adj" fmla="val 17143"/>
            </a:avLst>
          </a:prstGeom>
          <a:solidFill xmlns:a="http://schemas.openxmlformats.org/drawingml/2006/main">
            <a:srgbClr val="4E3A7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CE1CA6-2C37-43F7-B37A-14F68D3B7A23}"/>
              </a:ext>
            </a:extLst>
          </p:cNvPr>
          <p:cNvSpPr>
            <a:spLocks xmlns:a="http://schemas.openxmlformats.org/drawingml/2006/main" noGrp="1"/>
          </p:cNvSpPr>
          <p:nvPr/>
        </p:nvSpPr>
        <p:spPr>
          <a:xfrm xmlns:a="http://schemas.openxmlformats.org/drawingml/2006/main">
            <a:off x="7410450" y="24384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Echo Mobile</a:t>
            </a:r>
          </a:p>
        </p:txBody>
      </p:sp>
      <p:sp>
        <p:nvSpPr>
          <p:cNvPr id="18" name="">
            <a:extLst xmlns:a="http://schemas.openxmlformats.org/drawingml/2006/main">
              <a:ext uri="{FF2B5EF4-FFF2-40B4-BE49-F238E27FC236}">
                <a16:creationId xmlns:a16="http://schemas.microsoft.com/office/drawing/2014/main" id="{89FF3EEE-5443-4E08-88F5-91C665EB472D}"/>
              </a:ext>
            </a:extLst>
          </p:cNvPr>
          <p:cNvSpPr>
            <a:spLocks xmlns:a="http://schemas.openxmlformats.org/drawingml/2006/main" noGrp="1"/>
          </p:cNvSpPr>
          <p:nvPr/>
        </p:nvSpPr>
        <p:spPr>
          <a:xfrm xmlns:a="http://schemas.openxmlformats.org/drawingml/2006/main">
            <a:off x="7410450" y="27241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Android recorder</a:t>
            </a:r>
          </a:p>
        </p:txBody>
      </p:sp>
      <p:sp>
        <p:nvSpPr>
          <p:cNvPr id="19" name="">
            <a:extLst xmlns:a="http://schemas.openxmlformats.org/drawingml/2006/main">
              <a:ext uri="{FF2B5EF4-FFF2-40B4-BE49-F238E27FC236}">
                <a16:creationId xmlns:a16="http://schemas.microsoft.com/office/drawing/2014/main" id="{96402340-6956-48C1-B016-F82E17C4CC90}"/>
              </a:ext>
            </a:extLst>
          </p:cNvPr>
          <p:cNvSpPr>
            <a:spLocks xmlns:a="http://schemas.openxmlformats.org/drawingml/2006/main" noGrp="1"/>
          </p:cNvSpPr>
          <p:nvPr/>
        </p:nvSpPr>
        <p:spPr>
          <a:xfrm xmlns:a="http://schemas.openxmlformats.org/drawingml/2006/main">
            <a:off x="2000250" y="3714750"/>
            <a:ext cx="2000250" cy="666750"/>
          </a:xfrm>
          <a:prstGeom xmlns:a="http://schemas.openxmlformats.org/drawingml/2006/main" prst="roundRect">
            <a:avLst>
              <a:gd name="adj" fmla="val 17143"/>
            </a:avLst>
          </a:prstGeom>
          <a:solidFill xmlns:a="http://schemas.openxmlformats.org/drawingml/2006/main">
            <a:srgbClr val="6F43E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3C66207-0BEE-4F71-8D28-115B608B1A8D}"/>
              </a:ext>
            </a:extLst>
          </p:cNvPr>
          <p:cNvSpPr>
            <a:spLocks xmlns:a="http://schemas.openxmlformats.org/drawingml/2006/main" noGrp="1"/>
          </p:cNvSpPr>
          <p:nvPr/>
        </p:nvSpPr>
        <p:spPr>
          <a:xfrm xmlns:a="http://schemas.openxmlformats.org/drawingml/2006/main">
            <a:off x="2114550" y="38100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Core API</a:t>
            </a:r>
          </a:p>
        </p:txBody>
      </p:sp>
      <p:sp>
        <p:nvSpPr>
          <p:cNvPr id="21" name="">
            <a:extLst xmlns:a="http://schemas.openxmlformats.org/drawingml/2006/main">
              <a:ext uri="{FF2B5EF4-FFF2-40B4-BE49-F238E27FC236}">
                <a16:creationId xmlns:a16="http://schemas.microsoft.com/office/drawing/2014/main" id="{06D42B09-B756-4AA2-9B30-183BBA010488}"/>
              </a:ext>
            </a:extLst>
          </p:cNvPr>
          <p:cNvSpPr>
            <a:spLocks xmlns:a="http://schemas.openxmlformats.org/drawingml/2006/main" noGrp="1"/>
          </p:cNvSpPr>
          <p:nvPr/>
        </p:nvSpPr>
        <p:spPr>
          <a:xfrm xmlns:a="http://schemas.openxmlformats.org/drawingml/2006/main">
            <a:off x="2114550" y="40957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Fastify · identity · SSE</a:t>
            </a:r>
          </a:p>
        </p:txBody>
      </p:sp>
      <p:sp>
        <p:nvSpPr>
          <p:cNvPr id="22" name="">
            <a:extLst xmlns:a="http://schemas.openxmlformats.org/drawingml/2006/main">
              <a:ext uri="{FF2B5EF4-FFF2-40B4-BE49-F238E27FC236}">
                <a16:creationId xmlns:a16="http://schemas.microsoft.com/office/drawing/2014/main" id="{E0BA2C85-6330-47B8-B0DB-FE5CE6955282}"/>
              </a:ext>
            </a:extLst>
          </p:cNvPr>
          <p:cNvSpPr>
            <a:spLocks xmlns:a="http://schemas.openxmlformats.org/drawingml/2006/main" noGrp="1"/>
          </p:cNvSpPr>
          <p:nvPr/>
        </p:nvSpPr>
        <p:spPr>
          <a:xfrm xmlns:a="http://schemas.openxmlformats.org/drawingml/2006/main">
            <a:off x="4743450" y="3714750"/>
            <a:ext cx="1809750" cy="666750"/>
          </a:xfrm>
          <a:prstGeom xmlns:a="http://schemas.openxmlformats.org/drawingml/2006/main" prst="roundRect">
            <a:avLst>
              <a:gd name="adj" fmla="val 17143"/>
            </a:avLst>
          </a:prstGeom>
          <a:solidFill xmlns:a="http://schemas.openxmlformats.org/drawingml/2006/main">
            <a:srgbClr val="FF6F6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E902023-13F3-4E5E-B879-49B2082F6900}"/>
              </a:ext>
            </a:extLst>
          </p:cNvPr>
          <p:cNvSpPr>
            <a:spLocks xmlns:a="http://schemas.openxmlformats.org/drawingml/2006/main" noGrp="1"/>
          </p:cNvSpPr>
          <p:nvPr/>
        </p:nvSpPr>
        <p:spPr>
          <a:xfrm xmlns:a="http://schemas.openxmlformats.org/drawingml/2006/main">
            <a:off x="4857750" y="38100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Worker</a:t>
            </a:r>
          </a:p>
        </p:txBody>
      </p:sp>
      <p:sp>
        <p:nvSpPr>
          <p:cNvPr id="24" name="">
            <a:extLst xmlns:a="http://schemas.openxmlformats.org/drawingml/2006/main">
              <a:ext uri="{FF2B5EF4-FFF2-40B4-BE49-F238E27FC236}">
                <a16:creationId xmlns:a16="http://schemas.microsoft.com/office/drawing/2014/main" id="{96CC34D8-8C92-450E-8412-B2ED6B34EFFE}"/>
              </a:ext>
            </a:extLst>
          </p:cNvPr>
          <p:cNvSpPr>
            <a:spLocks xmlns:a="http://schemas.openxmlformats.org/drawingml/2006/main" noGrp="1"/>
          </p:cNvSpPr>
          <p:nvPr/>
        </p:nvSpPr>
        <p:spPr>
          <a:xfrm xmlns:a="http://schemas.openxmlformats.org/drawingml/2006/main">
            <a:off x="4857750" y="4095750"/>
            <a:ext cx="1581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pgmq · lifecycle · retry</a:t>
            </a:r>
          </a:p>
        </p:txBody>
      </p:sp>
      <p:sp>
        <p:nvSpPr>
          <p:cNvPr id="25" name="">
            <a:extLst xmlns:a="http://schemas.openxmlformats.org/drawingml/2006/main">
              <a:ext uri="{FF2B5EF4-FFF2-40B4-BE49-F238E27FC236}">
                <a16:creationId xmlns:a16="http://schemas.microsoft.com/office/drawing/2014/main" id="{2770A72D-47BF-409A-840A-93DB5ED1CD84}"/>
              </a:ext>
            </a:extLst>
          </p:cNvPr>
          <p:cNvSpPr>
            <a:spLocks xmlns:a="http://schemas.openxmlformats.org/drawingml/2006/main" noGrp="1"/>
          </p:cNvSpPr>
          <p:nvPr/>
        </p:nvSpPr>
        <p:spPr>
          <a:xfrm xmlns:a="http://schemas.openxmlformats.org/drawingml/2006/main">
            <a:off x="7296150" y="3714750"/>
            <a:ext cx="2000250" cy="666750"/>
          </a:xfrm>
          <a:prstGeom xmlns:a="http://schemas.openxmlformats.org/drawingml/2006/main" prst="roundRect">
            <a:avLst>
              <a:gd name="adj" fmla="val 17143"/>
            </a:avLst>
          </a:prstGeom>
          <a:solidFill xmlns:a="http://schemas.openxmlformats.org/drawingml/2006/main">
            <a:srgbClr val="63D8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D16D740-CF23-4F57-9E7D-C1FCBF3284D1}"/>
              </a:ext>
            </a:extLst>
          </p:cNvPr>
          <p:cNvSpPr>
            <a:spLocks xmlns:a="http://schemas.openxmlformats.org/drawingml/2006/main" noGrp="1"/>
          </p:cNvSpPr>
          <p:nvPr/>
        </p:nvSpPr>
        <p:spPr>
          <a:xfrm xmlns:a="http://schemas.openxmlformats.org/drawingml/2006/main">
            <a:off x="7410450" y="38100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0C0922"/>
                </a:solidFill>
              </a:defRPr>
            </a:pPr>
            <a:r>
              <a:rPr sz="1275" b="1">
                <a:solidFill>
                  <a:srgbClr val="0C0922"/>
                </a:solidFill>
              </a:rPr>
              <a:t>ML</a:t>
            </a:r>
          </a:p>
        </p:txBody>
      </p:sp>
      <p:sp>
        <p:nvSpPr>
          <p:cNvPr id="27" name="">
            <a:extLst xmlns:a="http://schemas.openxmlformats.org/drawingml/2006/main">
              <a:ext uri="{FF2B5EF4-FFF2-40B4-BE49-F238E27FC236}">
                <a16:creationId xmlns:a16="http://schemas.microsoft.com/office/drawing/2014/main" id="{385B99BC-72AA-4C8B-B40F-1CFA12B19BB7}"/>
              </a:ext>
            </a:extLst>
          </p:cNvPr>
          <p:cNvSpPr>
            <a:spLocks xmlns:a="http://schemas.openxmlformats.org/drawingml/2006/main" noGrp="1"/>
          </p:cNvSpPr>
          <p:nvPr/>
        </p:nvSpPr>
        <p:spPr>
          <a:xfrm xmlns:a="http://schemas.openxmlformats.org/drawingml/2006/main">
            <a:off x="7410450" y="40957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716A7C"/>
                </a:solidFill>
              </a:defRPr>
            </a:pPr>
            <a:r>
              <a:rPr sz="938" b="0">
                <a:solidFill>
                  <a:srgbClr val="716A7C"/>
                </a:solidFill>
              </a:rPr>
              <a:t>stateless speech facade</a:t>
            </a:r>
          </a:p>
        </p:txBody>
      </p:sp>
      <p:sp>
        <p:nvSpPr>
          <p:cNvPr id="28" name="">
            <a:extLst xmlns:a="http://schemas.openxmlformats.org/drawingml/2006/main">
              <a:ext uri="{FF2B5EF4-FFF2-40B4-BE49-F238E27FC236}">
                <a16:creationId xmlns:a16="http://schemas.microsoft.com/office/drawing/2014/main" id="{F15696A7-5D9B-4A80-8B2E-4F05C906D648}"/>
              </a:ext>
            </a:extLst>
          </p:cNvPr>
          <p:cNvSpPr>
            <a:spLocks xmlns:a="http://schemas.openxmlformats.org/drawingml/2006/main" noGrp="1"/>
          </p:cNvSpPr>
          <p:nvPr/>
        </p:nvSpPr>
        <p:spPr>
          <a:xfrm xmlns:a="http://schemas.openxmlformats.org/drawingml/2006/main">
            <a:off x="9525000" y="3714750"/>
            <a:ext cx="1809750" cy="666750"/>
          </a:xfrm>
          <a:prstGeom xmlns:a="http://schemas.openxmlformats.org/drawingml/2006/main" prst="roundRect">
            <a:avLst>
              <a:gd name="adj" fmla="val 17143"/>
            </a:avLst>
          </a:prstGeom>
          <a:solidFill xmlns:a="http://schemas.openxmlformats.org/drawingml/2006/main">
            <a:srgbClr val="3B315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2D35A80-22A9-400F-A5F3-6B40A59B59E4}"/>
              </a:ext>
            </a:extLst>
          </p:cNvPr>
          <p:cNvSpPr>
            <a:spLocks xmlns:a="http://schemas.openxmlformats.org/drawingml/2006/main" noGrp="1"/>
          </p:cNvSpPr>
          <p:nvPr/>
        </p:nvSpPr>
        <p:spPr>
          <a:xfrm xmlns:a="http://schemas.openxmlformats.org/drawingml/2006/main">
            <a:off x="9639300" y="38100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Providers / Connectors</a:t>
            </a:r>
          </a:p>
        </p:txBody>
      </p:sp>
      <p:sp>
        <p:nvSpPr>
          <p:cNvPr id="30" name="">
            <a:extLst xmlns:a="http://schemas.openxmlformats.org/drawingml/2006/main">
              <a:ext uri="{FF2B5EF4-FFF2-40B4-BE49-F238E27FC236}">
                <a16:creationId xmlns:a16="http://schemas.microsoft.com/office/drawing/2014/main" id="{3664534A-00FC-4B39-BB2F-48881F699689}"/>
              </a:ext>
            </a:extLst>
          </p:cNvPr>
          <p:cNvSpPr>
            <a:spLocks xmlns:a="http://schemas.openxmlformats.org/drawingml/2006/main" noGrp="1"/>
          </p:cNvSpPr>
          <p:nvPr/>
        </p:nvSpPr>
        <p:spPr>
          <a:xfrm xmlns:a="http://schemas.openxmlformats.org/drawingml/2006/main">
            <a:off x="9639300" y="4095750"/>
            <a:ext cx="1581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Soniox · OpenRouter · webhooks</a:t>
            </a:r>
          </a:p>
        </p:txBody>
      </p:sp>
      <p:sp>
        <p:nvSpPr>
          <p:cNvPr id="31" name="">
            <a:extLst xmlns:a="http://schemas.openxmlformats.org/drawingml/2006/main">
              <a:ext uri="{FF2B5EF4-FFF2-40B4-BE49-F238E27FC236}">
                <a16:creationId xmlns:a16="http://schemas.microsoft.com/office/drawing/2014/main" id="{2E4493C4-4D4E-43E4-92BD-BEBF1C4131F6}"/>
              </a:ext>
            </a:extLst>
          </p:cNvPr>
          <p:cNvSpPr>
            <a:spLocks xmlns:a="http://schemas.openxmlformats.org/drawingml/2006/main" noGrp="1"/>
          </p:cNvSpPr>
          <p:nvPr/>
        </p:nvSpPr>
        <p:spPr>
          <a:xfrm xmlns:a="http://schemas.openxmlformats.org/drawingml/2006/main">
            <a:off x="3352800" y="5143500"/>
            <a:ext cx="5048250" cy="666750"/>
          </a:xfrm>
          <a:prstGeom xmlns:a="http://schemas.openxmlformats.org/drawingml/2006/main" prst="roundRect">
            <a:avLst>
              <a:gd name="adj" fmla="val 17143"/>
            </a:avLst>
          </a:prstGeom>
          <a:solidFill xmlns:a="http://schemas.openxmlformats.org/drawingml/2006/main">
            <a:srgbClr val="FF6F6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570F941-54A4-42D4-A448-8ACEEDE200FB}"/>
              </a:ext>
            </a:extLst>
          </p:cNvPr>
          <p:cNvSpPr>
            <a:spLocks xmlns:a="http://schemas.openxmlformats.org/drawingml/2006/main" noGrp="1"/>
          </p:cNvSpPr>
          <p:nvPr/>
        </p:nvSpPr>
        <p:spPr>
          <a:xfrm xmlns:a="http://schemas.openxmlformats.org/drawingml/2006/main">
            <a:off x="3467100" y="52387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Supabase</a:t>
            </a:r>
          </a:p>
        </p:txBody>
      </p:sp>
      <p:sp>
        <p:nvSpPr>
          <p:cNvPr id="33" name="">
            <a:extLst xmlns:a="http://schemas.openxmlformats.org/drawingml/2006/main">
              <a:ext uri="{FF2B5EF4-FFF2-40B4-BE49-F238E27FC236}">
                <a16:creationId xmlns:a16="http://schemas.microsoft.com/office/drawing/2014/main" id="{DB535FED-CB63-4340-979A-AADE0AA93239}"/>
              </a:ext>
            </a:extLst>
          </p:cNvPr>
          <p:cNvSpPr>
            <a:spLocks xmlns:a="http://schemas.openxmlformats.org/drawingml/2006/main" noGrp="1"/>
          </p:cNvSpPr>
          <p:nvPr/>
        </p:nvSpPr>
        <p:spPr>
          <a:xfrm xmlns:a="http://schemas.openxmlformats.org/drawingml/2006/main">
            <a:off x="3467100" y="5524500"/>
            <a:ext cx="481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Postgres · Auth · Storage · RLS · grants · pgmq</a:t>
            </a:r>
          </a:p>
        </p:txBody>
      </p:sp>
      <p:cxnSp>
        <p:nvCxnSpPr>
          <p:cNvPr id="79" name=""/>
          <p:cNvCxnSpPr>
            <a:stCxn xmlns:a="http://schemas.openxmlformats.org/drawingml/2006/main" id="10" idx="3"/>
            <a:endCxn xmlns:a="http://schemas.openxmlformats.org/drawingml/2006/main" id="13" idx="1"/>
          </p:cNvCxnSpPr>
          <p:nvPr/>
        </p:nvCxnSpPr>
        <p:spPr>
          <a:xfrm xmlns:a="http://schemas.openxmlformats.org/drawingml/2006/main">
            <a:off x="4000500" y="2676525"/>
            <a:ext cx="742950" cy="0"/>
          </a:xfrm>
          <a:prstGeom xmlns:a="http://schemas.openxmlformats.org/drawingml/2006/main" prst="straightConnector1">
            <a:avLst/>
          </a:prstGeom>
          <a:ln xmlns:a="http://schemas.openxmlformats.org/drawingml/2006/main" w="20955">
            <a:solidFill>
              <a:srgbClr val="9B6DFF"/>
            </a:solidFill>
            <a:prstDash val="solid"/>
            <a:tailEnd type="arrow" w="med" len="med"/>
          </a:ln>
        </p:spPr>
      </p:cxnSp>
      <p:cxnSp>
        <p:nvCxnSpPr>
          <p:cNvPr id="80" name=""/>
          <p:cNvCxnSpPr>
            <a:stCxn xmlns:a="http://schemas.openxmlformats.org/drawingml/2006/main" id="16" idx="1"/>
            <a:endCxn xmlns:a="http://schemas.openxmlformats.org/drawingml/2006/main" id="19" idx="3"/>
          </p:cNvCxnSpPr>
          <p:nvPr/>
        </p:nvCxnSpPr>
        <p:spPr>
          <a:xfrm xmlns:a="http://schemas.openxmlformats.org/drawingml/2006/main" rot="5400000">
            <a:off x="4962525" y="1714500"/>
            <a:ext cx="1371600" cy="3295650"/>
          </a:xfrm>
          <a:prstGeom xmlns:a="http://schemas.openxmlformats.org/drawingml/2006/main" prst="curvedConnector3">
            <a:avLst>
              <a:gd name="adj1" fmla="val 50000"/>
            </a:avLst>
          </a:prstGeom>
          <a:ln xmlns:a="http://schemas.openxmlformats.org/drawingml/2006/main" w="20955">
            <a:solidFill>
              <a:srgbClr val="7768A0"/>
            </a:solidFill>
            <a:prstDash val="dash"/>
            <a:tailEnd type="arrow" w="med" len="med"/>
          </a:ln>
        </p:spPr>
      </p:cxnSp>
      <p:cxnSp>
        <p:nvCxnSpPr>
          <p:cNvPr id="81" name=""/>
          <p:cNvCxnSpPr>
            <a:stCxn xmlns:a="http://schemas.openxmlformats.org/drawingml/2006/main" id="13" idx="2"/>
            <a:endCxn xmlns:a="http://schemas.openxmlformats.org/drawingml/2006/main" id="19" idx="0"/>
          </p:cNvCxnSpPr>
          <p:nvPr/>
        </p:nvCxnSpPr>
        <p:spPr>
          <a:xfrm xmlns:a="http://schemas.openxmlformats.org/drawingml/2006/main" flipH="1">
            <a:off x="3000375" y="3009900"/>
            <a:ext cx="2647950" cy="704850"/>
          </a:xfrm>
          <a:prstGeom xmlns:a="http://schemas.openxmlformats.org/drawingml/2006/main" prst="straightConnector1">
            <a:avLst/>
          </a:prstGeom>
          <a:ln xmlns:a="http://schemas.openxmlformats.org/drawingml/2006/main" w="20955">
            <a:solidFill>
              <a:srgbClr val="9B6DFF"/>
            </a:solidFill>
            <a:prstDash val="solid"/>
            <a:tailEnd type="arrow" w="med" len="med"/>
          </a:ln>
        </p:spPr>
      </p:cxnSp>
      <p:cxnSp>
        <p:nvCxnSpPr>
          <p:cNvPr id="82" name=""/>
          <p:cNvCxnSpPr>
            <a:stCxn xmlns:a="http://schemas.openxmlformats.org/drawingml/2006/main" id="19" idx="3"/>
            <a:endCxn xmlns:a="http://schemas.openxmlformats.org/drawingml/2006/main" id="22" idx="1"/>
          </p:cNvCxnSpPr>
          <p:nvPr/>
        </p:nvCxnSpPr>
        <p:spPr>
          <a:xfrm xmlns:a="http://schemas.openxmlformats.org/drawingml/2006/main">
            <a:off x="4000500" y="4048125"/>
            <a:ext cx="742950" cy="0"/>
          </a:xfrm>
          <a:prstGeom xmlns:a="http://schemas.openxmlformats.org/drawingml/2006/main" prst="straightConnector1">
            <a:avLst/>
          </a:prstGeom>
          <a:ln xmlns:a="http://schemas.openxmlformats.org/drawingml/2006/main" w="20955">
            <a:solidFill>
              <a:srgbClr val="FF6F61"/>
            </a:solidFill>
            <a:prstDash val="solid"/>
            <a:tailEnd type="arrow" w="med" len="med"/>
          </a:ln>
        </p:spPr>
      </p:cxnSp>
      <p:cxnSp>
        <p:nvCxnSpPr>
          <p:cNvPr id="83" name=""/>
          <p:cNvCxnSpPr>
            <a:stCxn xmlns:a="http://schemas.openxmlformats.org/drawingml/2006/main" id="22" idx="3"/>
            <a:endCxn xmlns:a="http://schemas.openxmlformats.org/drawingml/2006/main" id="25" idx="1"/>
          </p:cNvCxnSpPr>
          <p:nvPr/>
        </p:nvCxnSpPr>
        <p:spPr>
          <a:xfrm xmlns:a="http://schemas.openxmlformats.org/drawingml/2006/main">
            <a:off x="6553200" y="4048125"/>
            <a:ext cx="742950" cy="0"/>
          </a:xfrm>
          <a:prstGeom xmlns:a="http://schemas.openxmlformats.org/drawingml/2006/main" prst="straightConnector1">
            <a:avLst/>
          </a:prstGeom>
          <a:ln xmlns:a="http://schemas.openxmlformats.org/drawingml/2006/main" w="20955">
            <a:solidFill>
              <a:srgbClr val="63D8FF"/>
            </a:solidFill>
            <a:prstDash val="solid"/>
            <a:tailEnd type="arrow" w="med" len="med"/>
          </a:ln>
        </p:spPr>
      </p:cxnSp>
      <p:cxnSp>
        <p:nvCxnSpPr>
          <p:cNvPr id="84" name=""/>
          <p:cNvCxnSpPr>
            <a:stCxn xmlns:a="http://schemas.openxmlformats.org/drawingml/2006/main" id="25" idx="3"/>
            <a:endCxn xmlns:a="http://schemas.openxmlformats.org/drawingml/2006/main" id="28" idx="1"/>
          </p:cNvCxnSpPr>
          <p:nvPr/>
        </p:nvCxnSpPr>
        <p:spPr>
          <a:xfrm xmlns:a="http://schemas.openxmlformats.org/drawingml/2006/main">
            <a:off x="9296400" y="4048125"/>
            <a:ext cx="228600" cy="0"/>
          </a:xfrm>
          <a:prstGeom xmlns:a="http://schemas.openxmlformats.org/drawingml/2006/main" prst="straightConnector1">
            <a:avLst/>
          </a:prstGeom>
          <a:ln xmlns:a="http://schemas.openxmlformats.org/drawingml/2006/main" w="20955">
            <a:solidFill>
              <a:srgbClr val="7768A0"/>
            </a:solidFill>
            <a:prstDash val="solid"/>
            <a:tailEnd type="arrow" w="med" len="med"/>
          </a:ln>
        </p:spPr>
      </p:cxnSp>
      <p:cxnSp>
        <p:nvCxnSpPr>
          <p:cNvPr id="85" name=""/>
          <p:cNvCxnSpPr>
            <a:stCxn xmlns:a="http://schemas.openxmlformats.org/drawingml/2006/main" id="19" idx="2"/>
            <a:endCxn xmlns:a="http://schemas.openxmlformats.org/drawingml/2006/main" id="31" idx="0"/>
          </p:cNvCxnSpPr>
          <p:nvPr/>
        </p:nvCxnSpPr>
        <p:spPr>
          <a:xfrm xmlns:a="http://schemas.openxmlformats.org/drawingml/2006/main">
            <a:off x="3000375" y="4381500"/>
            <a:ext cx="2876550" cy="762000"/>
          </a:xfrm>
          <a:prstGeom xmlns:a="http://schemas.openxmlformats.org/drawingml/2006/main" prst="straightConnector1">
            <a:avLst/>
          </a:prstGeom>
          <a:ln xmlns:a="http://schemas.openxmlformats.org/drawingml/2006/main" w="20955">
            <a:solidFill>
              <a:srgbClr val="FF6F61"/>
            </a:solidFill>
            <a:prstDash val="solid"/>
            <a:tailEnd type="arrow" w="med" len="med"/>
          </a:ln>
        </p:spPr>
      </p:cxnSp>
      <p:cxnSp>
        <p:nvCxnSpPr>
          <p:cNvPr id="86" name=""/>
          <p:cNvCxnSpPr>
            <a:stCxn xmlns:a="http://schemas.openxmlformats.org/drawingml/2006/main" id="22" idx="2"/>
            <a:endCxn xmlns:a="http://schemas.openxmlformats.org/drawingml/2006/main" id="31" idx="0"/>
          </p:cNvCxnSpPr>
          <p:nvPr/>
        </p:nvCxnSpPr>
        <p:spPr>
          <a:xfrm xmlns:a="http://schemas.openxmlformats.org/drawingml/2006/main">
            <a:off x="5648325" y="4381500"/>
            <a:ext cx="228600" cy="762000"/>
          </a:xfrm>
          <a:prstGeom xmlns:a="http://schemas.openxmlformats.org/drawingml/2006/main" prst="straightConnector1">
            <a:avLst/>
          </a:prstGeom>
          <a:ln xmlns:a="http://schemas.openxmlformats.org/drawingml/2006/main" w="20955">
            <a:solidFill>
              <a:srgbClr val="FF6F61"/>
            </a:solidFill>
            <a:prstDash val="solid"/>
            <a:tailEnd type="arrow" w="med" len="med"/>
          </a:ln>
        </p:spPr>
      </p:cxnSp>
      <p:sp>
        <p:nvSpPr>
          <p:cNvPr id="42" name="">
            <a:extLst xmlns:a="http://schemas.openxmlformats.org/drawingml/2006/main">
              <a:ext uri="{FF2B5EF4-FFF2-40B4-BE49-F238E27FC236}">
                <a16:creationId xmlns:a16="http://schemas.microsoft.com/office/drawing/2014/main" id="{4A6B1507-4522-4D20-AC1E-800287B925A0}"/>
              </a:ext>
            </a:extLst>
          </p:cNvPr>
          <p:cNvSpPr>
            <a:spLocks xmlns:a="http://schemas.openxmlformats.org/drawingml/2006/main" noGrp="1"/>
          </p:cNvSpPr>
          <p:nvPr/>
        </p:nvSpPr>
        <p:spPr>
          <a:xfrm xmlns:a="http://schemas.openxmlformats.org/drawingml/2006/main">
            <a:off x="6781800" y="4476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a:solidFill>
                  <a:srgbClr val="AAA0C2"/>
                </a:solidFill>
              </a:defRPr>
            </a:pPr>
            <a:r>
              <a:rPr sz="863" b="0">
                <a:solidFill>
                  <a:srgbClr val="AAA0C2"/>
                </a:solidFill>
              </a:rPr>
              <a:t>short-lived signed media URL</a:t>
            </a:r>
          </a:p>
        </p:txBody>
      </p:sp>
      <p:sp>
        <p:nvSpPr>
          <p:cNvPr id="43" name="">
            <a:extLst xmlns:a="http://schemas.openxmlformats.org/drawingml/2006/main">
              <a:ext uri="{FF2B5EF4-FFF2-40B4-BE49-F238E27FC236}">
                <a16:creationId xmlns:a16="http://schemas.microsoft.com/office/drawing/2014/main" id="{458F9A52-7825-4045-B09D-E971DF15903C}"/>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3A3155"/>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1BCCB79-B60E-4D51-B1A3-3C14CFC7CCDC}"/>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9B6DFF"/>
                </a:solidFill>
              </a:defRPr>
            </a:pPr>
            <a:r>
              <a:rPr sz="750" b="1">
                <a:solidFill>
                  <a:srgbClr val="9B6DFF"/>
                </a:solidFill>
              </a:rPr>
              <a:t>NEURAI PLATFORM</a:t>
            </a:r>
          </a:p>
        </p:txBody>
      </p:sp>
      <p:sp>
        <p:nvSpPr>
          <p:cNvPr id="45" name="">
            <a:extLst xmlns:a="http://schemas.openxmlformats.org/drawingml/2006/main">
              <a:ext uri="{FF2B5EF4-FFF2-40B4-BE49-F238E27FC236}">
                <a16:creationId xmlns:a16="http://schemas.microsoft.com/office/drawing/2014/main" id="{835361F4-D894-41C6-A828-E94CFA6D5C22}"/>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9288A9"/>
                </a:solidFill>
              </a:defRPr>
            </a:pPr>
            <a:r>
              <a:rPr sz="750" b="1">
                <a:solidFill>
                  <a:srgbClr val="9288A9"/>
                </a:solidFill>
              </a:rPr>
              <a:t>06</a:t>
            </a:r>
          </a:p>
        </p:txBody>
      </p:sp>
    </p:spTree>
    <p:extLst>
      <p:ext uri="{BB962C8B-B14F-4D97-AF65-F5344CB8AC3E}">
        <p14:creationId xmlns:p14="http://schemas.microsoft.com/office/powerpoint/2010/main" val="965635079"/>
      </p:ext>
    </p:extLst>
  </p:cSld>
</p:sld>
</file>

<file path=ppt/slides/slide7.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8DBE18D8-911A-4700-879D-60944A79E5AA}"/>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43E7"/>
                </a:solidFill>
              </a:defRPr>
            </a:pPr>
            <a:r>
              <a:rPr sz="975" b="1">
                <a:solidFill>
                  <a:srgbClr val="6F43E7"/>
                </a:solidFill>
              </a:rPr>
              <a:t>TRUST AS ARCHITECTURE</a:t>
            </a:r>
          </a:p>
        </p:txBody>
      </p:sp>
      <p:sp>
        <p:nvSpPr>
          <p:cNvPr id="2" name="">
            <a:extLst xmlns:a="http://schemas.openxmlformats.org/drawingml/2006/main">
              <a:ext uri="{FF2B5EF4-FFF2-40B4-BE49-F238E27FC236}">
                <a16:creationId xmlns:a16="http://schemas.microsoft.com/office/drawing/2014/main" id="{F37B6519-A825-43ED-A1E6-A4E35F49EAEB}"/>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81424"/>
                </a:solidFill>
              </a:defRPr>
            </a:pPr>
            <a:r>
              <a:rPr sz="2850" b="1">
                <a:solidFill>
                  <a:srgbClr val="181424"/>
                </a:solidFill>
              </a:rPr>
              <a:t>The agent borrows authority—never invents it</a:t>
            </a:r>
          </a:p>
        </p:txBody>
      </p:sp>
      <p:sp>
        <p:nvSpPr>
          <p:cNvPr id="3" name="">
            <a:extLst xmlns:a="http://schemas.openxmlformats.org/drawingml/2006/main">
              <a:ext uri="{FF2B5EF4-FFF2-40B4-BE49-F238E27FC236}">
                <a16:creationId xmlns:a16="http://schemas.microsoft.com/office/drawing/2014/main" id="{20FCD3D0-4D77-4116-868D-CEB3EEA6996A}"/>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716A7C"/>
                </a:solidFill>
              </a:defRPr>
            </a:pPr>
            <a:r>
              <a:rPr sz="1350" b="0">
                <a:solidFill>
                  <a:srgbClr val="716A7C"/>
                </a:solidFill>
              </a:rPr>
              <a:t>JWT, identity, RLS, grants, policy, consent, and audit form one wall.</a:t>
            </a:r>
          </a:p>
        </p:txBody>
      </p:sp>
      <p:sp>
        <p:nvSpPr>
          <p:cNvPr id="4" name="">
            <a:extLst xmlns:a="http://schemas.openxmlformats.org/drawingml/2006/main">
              <a:ext uri="{FF2B5EF4-FFF2-40B4-BE49-F238E27FC236}">
                <a16:creationId xmlns:a16="http://schemas.microsoft.com/office/drawing/2014/main" id="{DD13B645-B553-4F5D-8E20-6881F5648536}"/>
              </a:ext>
            </a:extLst>
          </p:cNvPr>
          <p:cNvSpPr>
            <a:spLocks xmlns:a="http://schemas.openxmlformats.org/drawingml/2006/main" noGrp="1"/>
          </p:cNvSpPr>
          <p:nvPr/>
        </p:nvSpPr>
        <p:spPr>
          <a:xfrm xmlns:a="http://schemas.openxmlformats.org/drawingml/2006/main">
            <a:off x="1428750" y="2057400"/>
            <a:ext cx="838200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DD7E5"/>
            </a:solidFill>
            <a:prstDash val="solid"/>
          </a:ln>
        </p:spPr>
      </p:sp>
      <p:sp>
        <p:nvSpPr>
          <p:cNvPr id="5" name="">
            <a:extLst xmlns:a="http://schemas.openxmlformats.org/drawingml/2006/main">
              <a:ext uri="{FF2B5EF4-FFF2-40B4-BE49-F238E27FC236}">
                <a16:creationId xmlns:a16="http://schemas.microsoft.com/office/drawing/2014/main" id="{57D27B93-9CA7-4446-8B39-AC8898540E7D}"/>
              </a:ext>
            </a:extLst>
          </p:cNvPr>
          <p:cNvSpPr>
            <a:spLocks xmlns:a="http://schemas.openxmlformats.org/drawingml/2006/main" noGrp="1"/>
          </p:cNvSpPr>
          <p:nvPr/>
        </p:nvSpPr>
        <p:spPr>
          <a:xfrm xmlns:a="http://schemas.openxmlformats.org/drawingml/2006/main">
            <a:off x="1600200" y="2152650"/>
            <a:ext cx="323850" cy="323850"/>
          </a:xfrm>
          <a:prstGeom xmlns:a="http://schemas.openxmlformats.org/drawingml/2006/main" prst="roundRect">
            <a:avLst>
              <a:gd name="adj" fmla="val 50000"/>
            </a:avLst>
          </a:prstGeom>
          <a:solidFill xmlns:a="http://schemas.openxmlformats.org/drawingml/2006/main">
            <a:srgbClr val="6F43E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12D2F7-0A97-4289-A7EE-ADDE34D7AAF6}"/>
              </a:ext>
            </a:extLst>
          </p:cNvPr>
          <p:cNvSpPr>
            <a:spLocks xmlns:a="http://schemas.openxmlformats.org/drawingml/2006/main" noGrp="1"/>
          </p:cNvSpPr>
          <p:nvPr/>
        </p:nvSpPr>
        <p:spPr>
          <a:xfrm xmlns:a="http://schemas.openxmlformats.org/drawingml/2006/main">
            <a:off x="1600200" y="21907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1</a:t>
            </a:r>
          </a:p>
        </p:txBody>
      </p:sp>
      <p:sp>
        <p:nvSpPr>
          <p:cNvPr id="7" name="">
            <a:extLst xmlns:a="http://schemas.openxmlformats.org/drawingml/2006/main">
              <a:ext uri="{FF2B5EF4-FFF2-40B4-BE49-F238E27FC236}">
                <a16:creationId xmlns:a16="http://schemas.microsoft.com/office/drawing/2014/main" id="{0659DFB6-BB91-4381-A152-722C6C5913CE}"/>
              </a:ext>
            </a:extLst>
          </p:cNvPr>
          <p:cNvSpPr>
            <a:spLocks xmlns:a="http://schemas.openxmlformats.org/drawingml/2006/main" noGrp="1"/>
          </p:cNvSpPr>
          <p:nvPr/>
        </p:nvSpPr>
        <p:spPr>
          <a:xfrm xmlns:a="http://schemas.openxmlformats.org/drawingml/2006/main">
            <a:off x="2114550" y="2143125"/>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JWT</a:t>
            </a:r>
          </a:p>
        </p:txBody>
      </p:sp>
      <p:sp>
        <p:nvSpPr>
          <p:cNvPr id="8" name="">
            <a:extLst xmlns:a="http://schemas.openxmlformats.org/drawingml/2006/main">
              <a:ext uri="{FF2B5EF4-FFF2-40B4-BE49-F238E27FC236}">
                <a16:creationId xmlns:a16="http://schemas.microsoft.com/office/drawing/2014/main" id="{2FC44135-7501-4AA1-8A43-40B00785905A}"/>
              </a:ext>
            </a:extLst>
          </p:cNvPr>
          <p:cNvSpPr>
            <a:spLocks xmlns:a="http://schemas.openxmlformats.org/drawingml/2006/main" noGrp="1"/>
          </p:cNvSpPr>
          <p:nvPr/>
        </p:nvSpPr>
        <p:spPr>
          <a:xfrm xmlns:a="http://schemas.openxmlformats.org/drawingml/2006/main">
            <a:off x="4762500" y="21717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63" b="0">
                <a:solidFill>
                  <a:srgbClr val="716A7C"/>
                </a:solidFill>
              </a:defRPr>
            </a:pPr>
            <a:r>
              <a:rPr sz="1163" b="0">
                <a:solidFill>
                  <a:srgbClr val="716A7C"/>
                </a:solidFill>
              </a:rPr>
              <a:t>Verify signature + subject</a:t>
            </a:r>
          </a:p>
        </p:txBody>
      </p:sp>
      <p:sp>
        <p:nvSpPr>
          <p:cNvPr id="9" name="">
            <a:extLst xmlns:a="http://schemas.openxmlformats.org/drawingml/2006/main">
              <a:ext uri="{FF2B5EF4-FFF2-40B4-BE49-F238E27FC236}">
                <a16:creationId xmlns:a16="http://schemas.microsoft.com/office/drawing/2014/main" id="{7C2F6E74-E97B-43AE-AA6A-84F50D6E0F91}"/>
              </a:ext>
            </a:extLst>
          </p:cNvPr>
          <p:cNvSpPr>
            <a:spLocks xmlns:a="http://schemas.openxmlformats.org/drawingml/2006/main" noGrp="1"/>
          </p:cNvSpPr>
          <p:nvPr/>
        </p:nvSpPr>
        <p:spPr>
          <a:xfrm xmlns:a="http://schemas.openxmlformats.org/drawingml/2006/main">
            <a:off x="1638300" y="2714625"/>
            <a:ext cx="796290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DD7E5"/>
            </a:solidFill>
            <a:prstDash val="solid"/>
          </a:ln>
        </p:spPr>
      </p:sp>
      <p:sp>
        <p:nvSpPr>
          <p:cNvPr id="10" name="">
            <a:extLst xmlns:a="http://schemas.openxmlformats.org/drawingml/2006/main">
              <a:ext uri="{FF2B5EF4-FFF2-40B4-BE49-F238E27FC236}">
                <a16:creationId xmlns:a16="http://schemas.microsoft.com/office/drawing/2014/main" id="{9A10774C-F5D1-4A05-BCDD-7095C1C526D9}"/>
              </a:ext>
            </a:extLst>
          </p:cNvPr>
          <p:cNvSpPr>
            <a:spLocks xmlns:a="http://schemas.openxmlformats.org/drawingml/2006/main" noGrp="1"/>
          </p:cNvSpPr>
          <p:nvPr/>
        </p:nvSpPr>
        <p:spPr>
          <a:xfrm xmlns:a="http://schemas.openxmlformats.org/drawingml/2006/main">
            <a:off x="1809750" y="2809875"/>
            <a:ext cx="323850" cy="323850"/>
          </a:xfrm>
          <a:prstGeom xmlns:a="http://schemas.openxmlformats.org/drawingml/2006/main" prst="roundRect">
            <a:avLst>
              <a:gd name="adj" fmla="val 50000"/>
            </a:avLst>
          </a:prstGeom>
          <a:solidFill xmlns:a="http://schemas.openxmlformats.org/drawingml/2006/main">
            <a:srgbClr val="9B6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FAD514C-EA5E-4449-8F21-F7C83C1662B8}"/>
              </a:ext>
            </a:extLst>
          </p:cNvPr>
          <p:cNvSpPr>
            <a:spLocks xmlns:a="http://schemas.openxmlformats.org/drawingml/2006/main" noGrp="1"/>
          </p:cNvSpPr>
          <p:nvPr/>
        </p:nvSpPr>
        <p:spPr>
          <a:xfrm xmlns:a="http://schemas.openxmlformats.org/drawingml/2006/main">
            <a:off x="1809750" y="284797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0B0C6C5C-8358-45E8-A88D-D58FE5906876}"/>
              </a:ext>
            </a:extLst>
          </p:cNvPr>
          <p:cNvSpPr>
            <a:spLocks xmlns:a="http://schemas.openxmlformats.org/drawingml/2006/main" noGrp="1"/>
          </p:cNvSpPr>
          <p:nvPr/>
        </p:nvSpPr>
        <p:spPr>
          <a:xfrm xmlns:a="http://schemas.openxmlformats.org/drawingml/2006/main">
            <a:off x="2324100" y="28003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Identity</a:t>
            </a:r>
          </a:p>
        </p:txBody>
      </p:sp>
      <p:sp>
        <p:nvSpPr>
          <p:cNvPr id="13" name="">
            <a:extLst xmlns:a="http://schemas.openxmlformats.org/drawingml/2006/main">
              <a:ext uri="{FF2B5EF4-FFF2-40B4-BE49-F238E27FC236}">
                <a16:creationId xmlns:a16="http://schemas.microsoft.com/office/drawing/2014/main" id="{0A17B0F6-E6FB-46BE-8741-1912716045F6}"/>
              </a:ext>
            </a:extLst>
          </p:cNvPr>
          <p:cNvSpPr>
            <a:spLocks xmlns:a="http://schemas.openxmlformats.org/drawingml/2006/main" noGrp="1"/>
          </p:cNvSpPr>
          <p:nvPr/>
        </p:nvSpPr>
        <p:spPr>
          <a:xfrm xmlns:a="http://schemas.openxmlformats.org/drawingml/2006/main">
            <a:off x="4800600" y="2828925"/>
            <a:ext cx="415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63" b="0">
                <a:solidFill>
                  <a:srgbClr val="716A7C"/>
                </a:solidFill>
              </a:defRPr>
            </a:pPr>
            <a:r>
              <a:rPr sz="1163" b="0">
                <a:solidFill>
                  <a:srgbClr val="716A7C"/>
                </a:solidFill>
              </a:rPr>
              <a:t>Active user + org + role</a:t>
            </a:r>
          </a:p>
        </p:txBody>
      </p:sp>
      <p:sp>
        <p:nvSpPr>
          <p:cNvPr id="14" name="">
            <a:extLst xmlns:a="http://schemas.openxmlformats.org/drawingml/2006/main">
              <a:ext uri="{FF2B5EF4-FFF2-40B4-BE49-F238E27FC236}">
                <a16:creationId xmlns:a16="http://schemas.microsoft.com/office/drawing/2014/main" id="{24021060-7552-4F30-A2D8-6B5493743BC1}"/>
              </a:ext>
            </a:extLst>
          </p:cNvPr>
          <p:cNvSpPr>
            <a:spLocks xmlns:a="http://schemas.openxmlformats.org/drawingml/2006/main" noGrp="1"/>
          </p:cNvSpPr>
          <p:nvPr/>
        </p:nvSpPr>
        <p:spPr>
          <a:xfrm xmlns:a="http://schemas.openxmlformats.org/drawingml/2006/main">
            <a:off x="1847850" y="3371850"/>
            <a:ext cx="754380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DD7E5"/>
            </a:solidFill>
            <a:prstDash val="solid"/>
          </a:ln>
        </p:spPr>
      </p:sp>
      <p:sp>
        <p:nvSpPr>
          <p:cNvPr id="15" name="">
            <a:extLst xmlns:a="http://schemas.openxmlformats.org/drawingml/2006/main">
              <a:ext uri="{FF2B5EF4-FFF2-40B4-BE49-F238E27FC236}">
                <a16:creationId xmlns:a16="http://schemas.microsoft.com/office/drawing/2014/main" id="{8E0F3236-9B6F-4A6A-A33B-FB54524C4748}"/>
              </a:ext>
            </a:extLst>
          </p:cNvPr>
          <p:cNvSpPr>
            <a:spLocks xmlns:a="http://schemas.openxmlformats.org/drawingml/2006/main" noGrp="1"/>
          </p:cNvSpPr>
          <p:nvPr/>
        </p:nvSpPr>
        <p:spPr>
          <a:xfrm xmlns:a="http://schemas.openxmlformats.org/drawingml/2006/main">
            <a:off x="2019300" y="3467100"/>
            <a:ext cx="323850" cy="323850"/>
          </a:xfrm>
          <a:prstGeom xmlns:a="http://schemas.openxmlformats.org/drawingml/2006/main" prst="roundRect">
            <a:avLst>
              <a:gd name="adj" fmla="val 50000"/>
            </a:avLst>
          </a:prstGeom>
          <a:solidFill xmlns:a="http://schemas.openxmlformats.org/drawingml/2006/main">
            <a:srgbClr val="63D8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87F823A-A15B-48EE-9713-5E590414A9C9}"/>
              </a:ext>
            </a:extLst>
          </p:cNvPr>
          <p:cNvSpPr>
            <a:spLocks xmlns:a="http://schemas.openxmlformats.org/drawingml/2006/main" noGrp="1"/>
          </p:cNvSpPr>
          <p:nvPr/>
        </p:nvSpPr>
        <p:spPr>
          <a:xfrm xmlns:a="http://schemas.openxmlformats.org/drawingml/2006/main">
            <a:off x="2019300" y="3505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C0922"/>
                </a:solidFill>
              </a:defRPr>
            </a:pPr>
            <a:r>
              <a:rPr sz="1050" b="1">
                <a:solidFill>
                  <a:srgbClr val="0C0922"/>
                </a:solidFill>
              </a:rPr>
              <a:t>3</a:t>
            </a:r>
          </a:p>
        </p:txBody>
      </p:sp>
      <p:sp>
        <p:nvSpPr>
          <p:cNvPr id="17" name="">
            <a:extLst xmlns:a="http://schemas.openxmlformats.org/drawingml/2006/main">
              <a:ext uri="{FF2B5EF4-FFF2-40B4-BE49-F238E27FC236}">
                <a16:creationId xmlns:a16="http://schemas.microsoft.com/office/drawing/2014/main" id="{68F4D3E2-36E1-490B-9801-54699F377255}"/>
              </a:ext>
            </a:extLst>
          </p:cNvPr>
          <p:cNvSpPr>
            <a:spLocks xmlns:a="http://schemas.openxmlformats.org/drawingml/2006/main" noGrp="1"/>
          </p:cNvSpPr>
          <p:nvPr/>
        </p:nvSpPr>
        <p:spPr>
          <a:xfrm xmlns:a="http://schemas.openxmlformats.org/drawingml/2006/main">
            <a:off x="2533650" y="3457575"/>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RLS</a:t>
            </a:r>
          </a:p>
        </p:txBody>
      </p:sp>
      <p:sp>
        <p:nvSpPr>
          <p:cNvPr id="18" name="">
            <a:extLst xmlns:a="http://schemas.openxmlformats.org/drawingml/2006/main">
              <a:ext uri="{FF2B5EF4-FFF2-40B4-BE49-F238E27FC236}">
                <a16:creationId xmlns:a16="http://schemas.microsoft.com/office/drawing/2014/main" id="{1FC53A03-6E46-486C-9E59-DC1B07EAB56C}"/>
              </a:ext>
            </a:extLst>
          </p:cNvPr>
          <p:cNvSpPr>
            <a:spLocks xmlns:a="http://schemas.openxmlformats.org/drawingml/2006/main" noGrp="1"/>
          </p:cNvSpPr>
          <p:nvPr/>
        </p:nvSpPr>
        <p:spPr>
          <a:xfrm xmlns:a="http://schemas.openxmlformats.org/drawingml/2006/main">
            <a:off x="4838700" y="3486150"/>
            <a:ext cx="3829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63" b="0">
                <a:solidFill>
                  <a:srgbClr val="716A7C"/>
                </a:solidFill>
              </a:defRPr>
            </a:pPr>
            <a:r>
              <a:rPr sz="1163" b="0">
                <a:solidFill>
                  <a:srgbClr val="716A7C"/>
                </a:solidFill>
              </a:rPr>
              <a:t>Filter rows by actor</a:t>
            </a:r>
          </a:p>
        </p:txBody>
      </p:sp>
      <p:sp>
        <p:nvSpPr>
          <p:cNvPr id="19" name="">
            <a:extLst xmlns:a="http://schemas.openxmlformats.org/drawingml/2006/main">
              <a:ext uri="{FF2B5EF4-FFF2-40B4-BE49-F238E27FC236}">
                <a16:creationId xmlns:a16="http://schemas.microsoft.com/office/drawing/2014/main" id="{E9EE0B55-5291-4180-A046-553DB8A511E9}"/>
              </a:ext>
            </a:extLst>
          </p:cNvPr>
          <p:cNvSpPr>
            <a:spLocks xmlns:a="http://schemas.openxmlformats.org/drawingml/2006/main" noGrp="1"/>
          </p:cNvSpPr>
          <p:nvPr/>
        </p:nvSpPr>
        <p:spPr>
          <a:xfrm xmlns:a="http://schemas.openxmlformats.org/drawingml/2006/main">
            <a:off x="2057400" y="4029075"/>
            <a:ext cx="712470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DD7E5"/>
            </a:solidFill>
            <a:prstDash val="solid"/>
          </a:ln>
        </p:spPr>
      </p:sp>
      <p:sp>
        <p:nvSpPr>
          <p:cNvPr id="20" name="">
            <a:extLst xmlns:a="http://schemas.openxmlformats.org/drawingml/2006/main">
              <a:ext uri="{FF2B5EF4-FFF2-40B4-BE49-F238E27FC236}">
                <a16:creationId xmlns:a16="http://schemas.microsoft.com/office/drawing/2014/main" id="{00D5DFC7-C65A-4881-9E72-756E6C78E522}"/>
              </a:ext>
            </a:extLst>
          </p:cNvPr>
          <p:cNvSpPr>
            <a:spLocks xmlns:a="http://schemas.openxmlformats.org/drawingml/2006/main" noGrp="1"/>
          </p:cNvSpPr>
          <p:nvPr/>
        </p:nvSpPr>
        <p:spPr>
          <a:xfrm xmlns:a="http://schemas.openxmlformats.org/drawingml/2006/main">
            <a:off x="2228850" y="4124325"/>
            <a:ext cx="323850" cy="3238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7C4FD65-B4F9-4749-8C84-74F098969C12}"/>
              </a:ext>
            </a:extLst>
          </p:cNvPr>
          <p:cNvSpPr>
            <a:spLocks xmlns:a="http://schemas.openxmlformats.org/drawingml/2006/main" noGrp="1"/>
          </p:cNvSpPr>
          <p:nvPr/>
        </p:nvSpPr>
        <p:spPr>
          <a:xfrm xmlns:a="http://schemas.openxmlformats.org/drawingml/2006/main">
            <a:off x="2228850" y="41624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4</a:t>
            </a:r>
          </a:p>
        </p:txBody>
      </p:sp>
      <p:sp>
        <p:nvSpPr>
          <p:cNvPr id="22" name="">
            <a:extLst xmlns:a="http://schemas.openxmlformats.org/drawingml/2006/main">
              <a:ext uri="{FF2B5EF4-FFF2-40B4-BE49-F238E27FC236}">
                <a16:creationId xmlns:a16="http://schemas.microsoft.com/office/drawing/2014/main" id="{13C11B93-26CF-4E97-8F67-5CFE10734BBE}"/>
              </a:ext>
            </a:extLst>
          </p:cNvPr>
          <p:cNvSpPr>
            <a:spLocks xmlns:a="http://schemas.openxmlformats.org/drawingml/2006/main" noGrp="1"/>
          </p:cNvSpPr>
          <p:nvPr/>
        </p:nvSpPr>
        <p:spPr>
          <a:xfrm xmlns:a="http://schemas.openxmlformats.org/drawingml/2006/main">
            <a:off x="2743200" y="411480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Grants</a:t>
            </a:r>
          </a:p>
        </p:txBody>
      </p:sp>
      <p:sp>
        <p:nvSpPr>
          <p:cNvPr id="23" name="">
            <a:extLst xmlns:a="http://schemas.openxmlformats.org/drawingml/2006/main">
              <a:ext uri="{FF2B5EF4-FFF2-40B4-BE49-F238E27FC236}">
                <a16:creationId xmlns:a16="http://schemas.microsoft.com/office/drawing/2014/main" id="{B019B8EA-B4AE-44B4-B466-629AAF183119}"/>
              </a:ext>
            </a:extLst>
          </p:cNvPr>
          <p:cNvSpPr>
            <a:spLocks xmlns:a="http://schemas.openxmlformats.org/drawingml/2006/main" noGrp="1"/>
          </p:cNvSpPr>
          <p:nvPr/>
        </p:nvSpPr>
        <p:spPr>
          <a:xfrm xmlns:a="http://schemas.openxmlformats.org/drawingml/2006/main">
            <a:off x="4876800" y="4143375"/>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63" b="0">
                <a:solidFill>
                  <a:srgbClr val="716A7C"/>
                </a:solidFill>
              </a:defRPr>
            </a:pPr>
            <a:r>
              <a:rPr sz="1163" b="0">
                <a:solidFill>
                  <a:srgbClr val="716A7C"/>
                </a:solidFill>
              </a:rPr>
              <a:t>Hard ceiling; agent no DELETE</a:t>
            </a:r>
          </a:p>
        </p:txBody>
      </p:sp>
      <p:sp>
        <p:nvSpPr>
          <p:cNvPr id="24" name="">
            <a:extLst xmlns:a="http://schemas.openxmlformats.org/drawingml/2006/main">
              <a:ext uri="{FF2B5EF4-FFF2-40B4-BE49-F238E27FC236}">
                <a16:creationId xmlns:a16="http://schemas.microsoft.com/office/drawing/2014/main" id="{076AB650-3A6F-4036-9F30-CCBBD2D594D4}"/>
              </a:ext>
            </a:extLst>
          </p:cNvPr>
          <p:cNvSpPr>
            <a:spLocks xmlns:a="http://schemas.openxmlformats.org/drawingml/2006/main" noGrp="1"/>
          </p:cNvSpPr>
          <p:nvPr/>
        </p:nvSpPr>
        <p:spPr>
          <a:xfrm xmlns:a="http://schemas.openxmlformats.org/drawingml/2006/main">
            <a:off x="2266950" y="4686300"/>
            <a:ext cx="670560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DD7E5"/>
            </a:solidFill>
            <a:prstDash val="solid"/>
          </a:ln>
        </p:spPr>
      </p:sp>
      <p:sp>
        <p:nvSpPr>
          <p:cNvPr id="25" name="">
            <a:extLst xmlns:a="http://schemas.openxmlformats.org/drawingml/2006/main">
              <a:ext uri="{FF2B5EF4-FFF2-40B4-BE49-F238E27FC236}">
                <a16:creationId xmlns:a16="http://schemas.microsoft.com/office/drawing/2014/main" id="{F4052F5A-198C-4416-9CDF-401BF5E07C0D}"/>
              </a:ext>
            </a:extLst>
          </p:cNvPr>
          <p:cNvSpPr>
            <a:spLocks xmlns:a="http://schemas.openxmlformats.org/drawingml/2006/main" noGrp="1"/>
          </p:cNvSpPr>
          <p:nvPr/>
        </p:nvSpPr>
        <p:spPr>
          <a:xfrm xmlns:a="http://schemas.openxmlformats.org/drawingml/2006/main">
            <a:off x="2438400" y="4781550"/>
            <a:ext cx="323850" cy="323850"/>
          </a:xfrm>
          <a:prstGeom xmlns:a="http://schemas.openxmlformats.org/drawingml/2006/main" prst="roundRect">
            <a:avLst>
              <a:gd name="adj" fmla="val 50000"/>
            </a:avLst>
          </a:prstGeom>
          <a:solidFill xmlns:a="http://schemas.openxmlformats.org/drawingml/2006/main">
            <a:srgbClr val="2E9B7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2DD7069-7D7C-4CFF-B1E5-4853F93BAC68}"/>
              </a:ext>
            </a:extLst>
          </p:cNvPr>
          <p:cNvSpPr>
            <a:spLocks xmlns:a="http://schemas.openxmlformats.org/drawingml/2006/main" noGrp="1"/>
          </p:cNvSpPr>
          <p:nvPr/>
        </p:nvSpPr>
        <p:spPr>
          <a:xfrm xmlns:a="http://schemas.openxmlformats.org/drawingml/2006/main">
            <a:off x="2438400" y="48196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5</a:t>
            </a:r>
          </a:p>
        </p:txBody>
      </p:sp>
      <p:sp>
        <p:nvSpPr>
          <p:cNvPr id="27" name="">
            <a:extLst xmlns:a="http://schemas.openxmlformats.org/drawingml/2006/main">
              <a:ext uri="{FF2B5EF4-FFF2-40B4-BE49-F238E27FC236}">
                <a16:creationId xmlns:a16="http://schemas.microsoft.com/office/drawing/2014/main" id="{67A9735A-0B81-4AB6-9822-D3705606F926}"/>
              </a:ext>
            </a:extLst>
          </p:cNvPr>
          <p:cNvSpPr>
            <a:spLocks xmlns:a="http://schemas.openxmlformats.org/drawingml/2006/main" noGrp="1"/>
          </p:cNvSpPr>
          <p:nvPr/>
        </p:nvSpPr>
        <p:spPr>
          <a:xfrm xmlns:a="http://schemas.openxmlformats.org/drawingml/2006/main">
            <a:off x="2952750" y="4772025"/>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81424"/>
                </a:solidFill>
              </a:defRPr>
            </a:pPr>
            <a:r>
              <a:rPr sz="1425" b="1">
                <a:solidFill>
                  <a:srgbClr val="181424"/>
                </a:solidFill>
              </a:rPr>
              <a:t>Policy</a:t>
            </a:r>
          </a:p>
        </p:txBody>
      </p:sp>
      <p:sp>
        <p:nvSpPr>
          <p:cNvPr id="28" name="">
            <a:extLst xmlns:a="http://schemas.openxmlformats.org/drawingml/2006/main">
              <a:ext uri="{FF2B5EF4-FFF2-40B4-BE49-F238E27FC236}">
                <a16:creationId xmlns:a16="http://schemas.microsoft.com/office/drawing/2014/main" id="{12A2298D-B980-4BAB-8719-1B8039786FC5}"/>
              </a:ext>
            </a:extLst>
          </p:cNvPr>
          <p:cNvSpPr>
            <a:spLocks xmlns:a="http://schemas.openxmlformats.org/drawingml/2006/main" noGrp="1"/>
          </p:cNvSpPr>
          <p:nvPr/>
        </p:nvSpPr>
        <p:spPr>
          <a:xfrm xmlns:a="http://schemas.openxmlformats.org/drawingml/2006/main">
            <a:off x="4914900" y="4800600"/>
            <a:ext cx="3181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63" b="0">
                <a:solidFill>
                  <a:srgbClr val="716A7C"/>
                </a:solidFill>
              </a:defRPr>
            </a:pPr>
            <a:r>
              <a:rPr sz="1163" b="0">
                <a:solidFill>
                  <a:srgbClr val="716A7C"/>
                </a:solidFill>
              </a:rPr>
              <a:t>Tool list + roles + budgets</a:t>
            </a:r>
          </a:p>
        </p:txBody>
      </p:sp>
      <p:sp>
        <p:nvSpPr>
          <p:cNvPr id="29" name="">
            <a:extLst xmlns:a="http://schemas.openxmlformats.org/drawingml/2006/main">
              <a:ext uri="{FF2B5EF4-FFF2-40B4-BE49-F238E27FC236}">
                <a16:creationId xmlns:a16="http://schemas.microsoft.com/office/drawing/2014/main" id="{08904975-63AC-4839-9D06-B28E662BBA20}"/>
              </a:ext>
            </a:extLst>
          </p:cNvPr>
          <p:cNvSpPr>
            <a:spLocks xmlns:a="http://schemas.openxmlformats.org/drawingml/2006/main" noGrp="1"/>
          </p:cNvSpPr>
          <p:nvPr/>
        </p:nvSpPr>
        <p:spPr>
          <a:xfrm xmlns:a="http://schemas.openxmlformats.org/drawingml/2006/main">
            <a:off x="2476500" y="5343525"/>
            <a:ext cx="6286500" cy="514350"/>
          </a:xfrm>
          <a:prstGeom xmlns:a="http://schemas.openxmlformats.org/drawingml/2006/main" prst="roundRect">
            <a:avLst>
              <a:gd name="adj" fmla="val 22222"/>
            </a:avLst>
          </a:prstGeom>
          <a:solidFill xmlns:a="http://schemas.openxmlformats.org/drawingml/2006/main">
            <a:srgbClr val="0C092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9C51EA5-6D27-423C-835F-8F0D3DE7C3C0}"/>
              </a:ext>
            </a:extLst>
          </p:cNvPr>
          <p:cNvSpPr>
            <a:spLocks xmlns:a="http://schemas.openxmlformats.org/drawingml/2006/main" noGrp="1"/>
          </p:cNvSpPr>
          <p:nvPr/>
        </p:nvSpPr>
        <p:spPr>
          <a:xfrm xmlns:a="http://schemas.openxmlformats.org/drawingml/2006/main">
            <a:off x="2647950" y="5438775"/>
            <a:ext cx="323850" cy="323850"/>
          </a:xfrm>
          <a:prstGeom xmlns:a="http://schemas.openxmlformats.org/drawingml/2006/main" prst="roundRect">
            <a:avLst>
              <a:gd name="adj" fmla="val 50000"/>
            </a:avLst>
          </a:prstGeom>
          <a:solidFill xmlns:a="http://schemas.openxmlformats.org/drawingml/2006/main">
            <a:srgbClr val="0C092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EB2DF9E-2C5E-4AAB-B8EB-F0CEB4C5B8CA}"/>
              </a:ext>
            </a:extLst>
          </p:cNvPr>
          <p:cNvSpPr>
            <a:spLocks xmlns:a="http://schemas.openxmlformats.org/drawingml/2006/main" noGrp="1"/>
          </p:cNvSpPr>
          <p:nvPr/>
        </p:nvSpPr>
        <p:spPr>
          <a:xfrm xmlns:a="http://schemas.openxmlformats.org/drawingml/2006/main">
            <a:off x="2647950" y="547687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6</a:t>
            </a:r>
          </a:p>
        </p:txBody>
      </p:sp>
      <p:sp>
        <p:nvSpPr>
          <p:cNvPr id="32" name="">
            <a:extLst xmlns:a="http://schemas.openxmlformats.org/drawingml/2006/main">
              <a:ext uri="{FF2B5EF4-FFF2-40B4-BE49-F238E27FC236}">
                <a16:creationId xmlns:a16="http://schemas.microsoft.com/office/drawing/2014/main" id="{AD13880E-1C39-465D-80B6-710A22F7AED1}"/>
              </a:ext>
            </a:extLst>
          </p:cNvPr>
          <p:cNvSpPr>
            <a:spLocks xmlns:a="http://schemas.openxmlformats.org/drawingml/2006/main" noGrp="1"/>
          </p:cNvSpPr>
          <p:nvPr/>
        </p:nvSpPr>
        <p:spPr>
          <a:xfrm xmlns:a="http://schemas.openxmlformats.org/drawingml/2006/main">
            <a:off x="3162300" y="54292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defRPr>
            </a:pPr>
            <a:r>
              <a:rPr sz="1425" b="1">
                <a:solidFill>
                  <a:srgbClr val="FFFFFF"/>
                </a:solidFill>
              </a:rPr>
              <a:t>Consent &amp; audit</a:t>
            </a:r>
          </a:p>
        </p:txBody>
      </p:sp>
      <p:sp>
        <p:nvSpPr>
          <p:cNvPr id="33" name="">
            <a:extLst xmlns:a="http://schemas.openxmlformats.org/drawingml/2006/main">
              <a:ext uri="{FF2B5EF4-FFF2-40B4-BE49-F238E27FC236}">
                <a16:creationId xmlns:a16="http://schemas.microsoft.com/office/drawing/2014/main" id="{F1C3BBDD-B23B-4BC3-B7EC-A93621B447BC}"/>
              </a:ext>
            </a:extLst>
          </p:cNvPr>
          <p:cNvSpPr>
            <a:spLocks xmlns:a="http://schemas.openxmlformats.org/drawingml/2006/main" noGrp="1"/>
          </p:cNvSpPr>
          <p:nvPr/>
        </p:nvSpPr>
        <p:spPr>
          <a:xfrm xmlns:a="http://schemas.openxmlformats.org/drawingml/2006/main">
            <a:off x="4953000" y="54578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63" b="0">
                <a:solidFill>
                  <a:srgbClr val="D6CEE8"/>
                </a:solidFill>
              </a:defRPr>
            </a:pPr>
            <a:r>
              <a:rPr sz="1163" b="0">
                <a:solidFill>
                  <a:srgbClr val="D6CEE8"/>
                </a:solidFill>
              </a:rPr>
              <a:t>Propose, confirm, record</a:t>
            </a:r>
          </a:p>
        </p:txBody>
      </p:sp>
      <p:sp>
        <p:nvSpPr>
          <p:cNvPr id="34" name="">
            <a:extLst xmlns:a="http://schemas.openxmlformats.org/drawingml/2006/main">
              <a:ext uri="{FF2B5EF4-FFF2-40B4-BE49-F238E27FC236}">
                <a16:creationId xmlns:a16="http://schemas.microsoft.com/office/drawing/2014/main" id="{D0092411-E28C-4CEB-B31E-630EF944C194}"/>
              </a:ext>
            </a:extLst>
          </p:cNvPr>
          <p:cNvSpPr>
            <a:spLocks xmlns:a="http://schemas.openxmlformats.org/drawingml/2006/main" noGrp="1"/>
          </p:cNvSpPr>
          <p:nvPr/>
        </p:nvSpPr>
        <p:spPr>
          <a:xfrm xmlns:a="http://schemas.openxmlformats.org/drawingml/2006/main">
            <a:off x="9620250" y="2247900"/>
            <a:ext cx="1619250" cy="3257550"/>
          </a:xfrm>
          <a:prstGeom xmlns:a="http://schemas.openxmlformats.org/drawingml/2006/main" prst="roundRect">
            <a:avLst>
              <a:gd name="adj" fmla="val 9412"/>
            </a:avLst>
          </a:prstGeom>
          <a:solidFill xmlns:a="http://schemas.openxmlformats.org/drawingml/2006/main">
            <a:srgbClr val="FFF0ED"/>
          </a:solidFill>
          <a:ln xmlns:a="http://schemas.openxmlformats.org/drawingml/2006/main" w="9525">
            <a:solidFill>
              <a:srgbClr val="FFD0C8"/>
            </a:solidFill>
            <a:prstDash val="solid"/>
          </a:ln>
        </p:spPr>
      </p:sp>
      <p:sp>
        <p:nvSpPr>
          <p:cNvPr id="35" name="">
            <a:extLst xmlns:a="http://schemas.openxmlformats.org/drawingml/2006/main">
              <a:ext uri="{FF2B5EF4-FFF2-40B4-BE49-F238E27FC236}">
                <a16:creationId xmlns:a16="http://schemas.microsoft.com/office/drawing/2014/main" id="{62156549-671F-4193-AA31-55136650DE34}"/>
              </a:ext>
            </a:extLst>
          </p:cNvPr>
          <p:cNvSpPr>
            <a:spLocks xmlns:a="http://schemas.openxmlformats.org/drawingml/2006/main" noGrp="1"/>
          </p:cNvSpPr>
          <p:nvPr/>
        </p:nvSpPr>
        <p:spPr>
          <a:xfrm xmlns:a="http://schemas.openxmlformats.org/drawingml/2006/main">
            <a:off x="9829800" y="24765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B44235"/>
                </a:solidFill>
              </a:defRPr>
            </a:pPr>
            <a:r>
              <a:rPr sz="900" b="1">
                <a:solidFill>
                  <a:srgbClr val="B44235"/>
                </a:solidFill>
              </a:rPr>
              <a:t>THE RESULT</a:t>
            </a:r>
          </a:p>
        </p:txBody>
      </p:sp>
      <p:sp>
        <p:nvSpPr>
          <p:cNvPr id="36" name="">
            <a:extLst xmlns:a="http://schemas.openxmlformats.org/drawingml/2006/main">
              <a:ext uri="{FF2B5EF4-FFF2-40B4-BE49-F238E27FC236}">
                <a16:creationId xmlns:a16="http://schemas.microsoft.com/office/drawing/2014/main" id="{AC2A8E5A-B16F-4DF0-BD2B-D8420FE2C515}"/>
              </a:ext>
            </a:extLst>
          </p:cNvPr>
          <p:cNvSpPr>
            <a:spLocks xmlns:a="http://schemas.openxmlformats.org/drawingml/2006/main" noGrp="1"/>
          </p:cNvSpPr>
          <p:nvPr/>
        </p:nvSpPr>
        <p:spPr>
          <a:xfrm xmlns:a="http://schemas.openxmlformats.org/drawingml/2006/main">
            <a:off x="9810750" y="3009900"/>
            <a:ext cx="1238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181424"/>
                </a:solidFill>
              </a:defRPr>
            </a:pPr>
            <a:r>
              <a:rPr sz="1875" b="1">
                <a:solidFill>
                  <a:srgbClr val="181424"/>
                </a:solidFill>
              </a:rPr>
              <a:t>A model can be wrong</a:t>
            </a:r>
          </a:p>
          <a:p xmlns:a="http://schemas.openxmlformats.org/drawingml/2006/main">
            <a:pPr algn="ctr">
              <a:defRPr sz="1875" b="1">
                <a:solidFill>
                  <a:srgbClr val="181424"/>
                </a:solidFill>
              </a:defRPr>
            </a:pPr>
            <a:r>
              <a:rPr sz="1875" b="1">
                <a:solidFill>
                  <a:srgbClr val="181424"/>
                </a:solidFill>
              </a:rPr>
              <a:t>without becoming</a:t>
            </a:r>
          </a:p>
          <a:p xmlns:a="http://schemas.openxmlformats.org/drawingml/2006/main">
            <a:pPr algn="ctr">
              <a:defRPr sz="1875" b="1">
                <a:solidFill>
                  <a:srgbClr val="181424"/>
                </a:solidFill>
              </a:defRPr>
            </a:pPr>
            <a:r>
              <a:rPr sz="1875" b="1">
                <a:solidFill>
                  <a:srgbClr val="181424"/>
                </a:solidFill>
              </a:rPr>
              <a:t>omnipotent.</a:t>
            </a:r>
          </a:p>
        </p:txBody>
      </p:sp>
      <p:sp>
        <p:nvSpPr>
          <p:cNvPr id="37" name="">
            <a:extLst xmlns:a="http://schemas.openxmlformats.org/drawingml/2006/main">
              <a:ext uri="{FF2B5EF4-FFF2-40B4-BE49-F238E27FC236}">
                <a16:creationId xmlns:a16="http://schemas.microsoft.com/office/drawing/2014/main" id="{AE774BE8-4460-4B48-B1D6-E4FD0A7AF014}"/>
              </a:ext>
            </a:extLst>
          </p:cNvPr>
          <p:cNvSpPr>
            <a:spLocks xmlns:a="http://schemas.openxmlformats.org/drawingml/2006/main" noGrp="1"/>
          </p:cNvSpPr>
          <p:nvPr/>
        </p:nvSpPr>
        <p:spPr>
          <a:xfrm xmlns:a="http://schemas.openxmlformats.org/drawingml/2006/main">
            <a:off x="9810750" y="47625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716A7C"/>
                </a:solidFill>
              </a:defRPr>
            </a:pPr>
            <a:r>
              <a:rPr sz="1125" b="1">
                <a:solidFill>
                  <a:srgbClr val="716A7C"/>
                </a:solidFill>
              </a:rPr>
              <a:t>Prompts guide.</a:t>
            </a:r>
          </a:p>
          <a:p xmlns:a="http://schemas.openxmlformats.org/drawingml/2006/main">
            <a:pPr algn="ctr">
              <a:defRPr sz="1125" b="1">
                <a:solidFill>
                  <a:srgbClr val="716A7C"/>
                </a:solidFill>
              </a:defRPr>
            </a:pPr>
            <a:r>
              <a:rPr sz="1125" b="1">
                <a:solidFill>
                  <a:srgbClr val="716A7C"/>
                </a:solidFill>
              </a:rPr>
              <a:t>The wall enforces.</a:t>
            </a:r>
          </a:p>
        </p:txBody>
      </p:sp>
      <p:sp>
        <p:nvSpPr>
          <p:cNvPr id="38" name="">
            <a:extLst xmlns:a="http://schemas.openxmlformats.org/drawingml/2006/main">
              <a:ext uri="{FF2B5EF4-FFF2-40B4-BE49-F238E27FC236}">
                <a16:creationId xmlns:a16="http://schemas.microsoft.com/office/drawing/2014/main" id="{A1EA4978-2649-45E6-B78D-78E856050AF4}"/>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DD7E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03FFD52-A8C8-4E85-BE2B-2AB8FCD57290}"/>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43E7"/>
                </a:solidFill>
              </a:defRPr>
            </a:pPr>
            <a:r>
              <a:rPr sz="750" b="1">
                <a:solidFill>
                  <a:srgbClr val="6F43E7"/>
                </a:solidFill>
              </a:rPr>
              <a:t>NEURAI PLATFORM</a:t>
            </a:r>
          </a:p>
        </p:txBody>
      </p:sp>
      <p:sp>
        <p:nvSpPr>
          <p:cNvPr id="40" name="">
            <a:extLst xmlns:a="http://schemas.openxmlformats.org/drawingml/2006/main">
              <a:ext uri="{FF2B5EF4-FFF2-40B4-BE49-F238E27FC236}">
                <a16:creationId xmlns:a16="http://schemas.microsoft.com/office/drawing/2014/main" id="{F9A4AECB-E43D-48A9-A155-8B25A2196E4D}"/>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716A7C"/>
                </a:solidFill>
              </a:defRPr>
            </a:pPr>
            <a:r>
              <a:rPr sz="750" b="1">
                <a:solidFill>
                  <a:srgbClr val="716A7C"/>
                </a:solidFill>
              </a:rPr>
              <a:t>07</a:t>
            </a:r>
          </a:p>
        </p:txBody>
      </p:sp>
    </p:spTree>
    <p:extLst>
      <p:ext uri="{BB962C8B-B14F-4D97-AF65-F5344CB8AC3E}">
        <p14:creationId xmlns:p14="http://schemas.microsoft.com/office/powerpoint/2010/main" val="1843920628"/>
      </p:ext>
    </p:extLst>
  </p:cSld>
</p:sld>
</file>

<file path=ppt/slides/slide8.xml><?xml version="1.0" encoding="utf-8"?>
<p:sld xmlns:p="http://schemas.openxmlformats.org/presentationml/2006/main">
  <p:cSld>
    <p:bg>
      <p:bgPr>
        <a:solidFill xmlns:a="http://schemas.openxmlformats.org/drawingml/2006/main">
          <a:srgbClr val="0C092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B6C27E5-4655-4841-98D1-272F85CD0F0F}"/>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B6DFF"/>
                </a:solidFill>
              </a:defRPr>
            </a:pPr>
            <a:r>
              <a:rPr sz="975" b="1">
                <a:solidFill>
                  <a:srgbClr val="9B6DFF"/>
                </a:solidFill>
              </a:rPr>
              <a:t>PERSIAN-FIRST SPEECH</a:t>
            </a:r>
          </a:p>
        </p:txBody>
      </p:sp>
      <p:sp>
        <p:nvSpPr>
          <p:cNvPr id="2" name="">
            <a:extLst xmlns:a="http://schemas.openxmlformats.org/drawingml/2006/main">
              <a:ext uri="{FF2B5EF4-FFF2-40B4-BE49-F238E27FC236}">
                <a16:creationId xmlns:a16="http://schemas.microsoft.com/office/drawing/2014/main" id="{A6907845-04FE-4EDF-A6E3-B9B2727D825C}"/>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defRPr>
            </a:pPr>
            <a:r>
              <a:rPr sz="2850" b="1">
                <a:solidFill>
                  <a:srgbClr val="FFFFFF"/>
                </a:solidFill>
              </a:rPr>
              <a:t>Accuracy is a pipeline. Trust survives when fidelity changes.</a:t>
            </a:r>
          </a:p>
        </p:txBody>
      </p:sp>
      <p:sp>
        <p:nvSpPr>
          <p:cNvPr id="3" name="">
            <a:extLst xmlns:a="http://schemas.openxmlformats.org/drawingml/2006/main">
              <a:ext uri="{FF2B5EF4-FFF2-40B4-BE49-F238E27FC236}">
                <a16:creationId xmlns:a16="http://schemas.microsoft.com/office/drawing/2014/main" id="{42F82167-0861-42C1-9BBF-FC596F5828DB}"/>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2CAE8"/>
                </a:solidFill>
              </a:defRPr>
            </a:pPr>
            <a:r>
              <a:rPr sz="1350" b="0">
                <a:solidFill>
                  <a:srgbClr val="D2CAE8"/>
                </a:solidFill>
              </a:rPr>
              <a:t>RTL, names, mixed language, speakers, timing, and voice identity are one product system.</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4572fea215884f6f"/>
          <a:srcRect xmlns:a="http://schemas.openxmlformats.org/drawingml/2006/main" l="21980" t="0" r="21980" b="0"/>
          <a:stretch xmlns:a="http://schemas.openxmlformats.org/drawingml/2006/main">
            <a:fillRect l="0" t="0" r="0" b="0"/>
          </a:stretch>
        </p:blipFill>
        <p:spPr>
          <a:xfrm xmlns:a="http://schemas.openxmlformats.org/drawingml/2006/main">
            <a:off x="6934200" y="2057400"/>
            <a:ext cx="4552950" cy="3562350"/>
          </a:xfrm>
          <a:prstGeom xmlns:a="http://schemas.openxmlformats.org/drawingml/2006/main" prst="roundRect">
            <a:avLst>
              <a:gd name="adj" fmla="val 4278"/>
            </a:avLst>
          </a:prstGeom>
        </p:spPr>
      </p:pic>
      <p:sp>
        <p:nvSpPr>
          <p:cNvPr id="5" name="">
            <a:extLst xmlns:a="http://schemas.openxmlformats.org/drawingml/2006/main">
              <a:ext uri="{FF2B5EF4-FFF2-40B4-BE49-F238E27FC236}">
                <a16:creationId xmlns:a16="http://schemas.microsoft.com/office/drawing/2014/main" id="{686D6360-2FD4-4AA5-A4FC-C55C3EA127A3}"/>
              </a:ext>
            </a:extLst>
          </p:cNvPr>
          <p:cNvSpPr>
            <a:spLocks xmlns:a="http://schemas.openxmlformats.org/drawingml/2006/main" noGrp="1"/>
          </p:cNvSpPr>
          <p:nvPr/>
        </p:nvSpPr>
        <p:spPr>
          <a:xfrm xmlns:a="http://schemas.openxmlformats.org/drawingml/2006/main">
            <a:off x="666750" y="2057400"/>
            <a:ext cx="5810250" cy="1162050"/>
          </a:xfrm>
          <a:prstGeom xmlns:a="http://schemas.openxmlformats.org/drawingml/2006/main" prst="roundRect">
            <a:avLst>
              <a:gd name="adj" fmla="val 13115"/>
            </a:avLst>
          </a:prstGeom>
          <a:solidFill xmlns:a="http://schemas.openxmlformats.org/drawingml/2006/main">
            <a:srgbClr val="181335"/>
          </a:solidFill>
          <a:ln xmlns:a="http://schemas.openxmlformats.org/drawingml/2006/main" w="9525">
            <a:solidFill>
              <a:srgbClr val="382D58"/>
            </a:solidFill>
            <a:prstDash val="solid"/>
          </a:ln>
        </p:spPr>
      </p:sp>
      <p:sp>
        <p:nvSpPr>
          <p:cNvPr id="6" name="">
            <a:extLst xmlns:a="http://schemas.openxmlformats.org/drawingml/2006/main">
              <a:ext uri="{FF2B5EF4-FFF2-40B4-BE49-F238E27FC236}">
                <a16:creationId xmlns:a16="http://schemas.microsoft.com/office/drawing/2014/main" id="{A0E16246-4B8D-44E1-AB65-76B68E6A7F2B}"/>
              </a:ext>
            </a:extLst>
          </p:cNvPr>
          <p:cNvSpPr>
            <a:spLocks xmlns:a="http://schemas.openxmlformats.org/drawingml/2006/main" noGrp="1"/>
          </p:cNvSpPr>
          <p:nvPr/>
        </p:nvSpPr>
        <p:spPr>
          <a:xfrm xmlns:a="http://schemas.openxmlformats.org/drawingml/2006/main">
            <a:off x="876300" y="2381250"/>
            <a:ext cx="914400" cy="3238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2EC1D5-4BF7-424A-90F8-A73CC72AE112}"/>
              </a:ext>
            </a:extLst>
          </p:cNvPr>
          <p:cNvSpPr>
            <a:spLocks xmlns:a="http://schemas.openxmlformats.org/drawingml/2006/main" noGrp="1"/>
          </p:cNvSpPr>
          <p:nvPr/>
        </p:nvSpPr>
        <p:spPr>
          <a:xfrm xmlns:a="http://schemas.openxmlformats.org/drawingml/2006/main">
            <a:off x="971550" y="240982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PROBE</a:t>
            </a:r>
          </a:p>
        </p:txBody>
      </p:sp>
      <p:sp>
        <p:nvSpPr>
          <p:cNvPr id="8" name="">
            <a:extLst xmlns:a="http://schemas.openxmlformats.org/drawingml/2006/main">
              <a:ext uri="{FF2B5EF4-FFF2-40B4-BE49-F238E27FC236}">
                <a16:creationId xmlns:a16="http://schemas.microsoft.com/office/drawing/2014/main" id="{28C5DD74-3710-4721-A806-1CE53224761B}"/>
              </a:ext>
            </a:extLst>
          </p:cNvPr>
          <p:cNvSpPr>
            <a:spLocks xmlns:a="http://schemas.openxmlformats.org/drawingml/2006/main" noGrp="1"/>
          </p:cNvSpPr>
          <p:nvPr/>
        </p:nvSpPr>
        <p:spPr>
          <a:xfrm xmlns:a="http://schemas.openxmlformats.org/drawingml/2006/main">
            <a:off x="1952625" y="2381250"/>
            <a:ext cx="914400" cy="323850"/>
          </a:xfrm>
          <a:prstGeom xmlns:a="http://schemas.openxmlformats.org/drawingml/2006/main" prst="roundRect">
            <a:avLst>
              <a:gd name="adj" fmla="val 50000"/>
            </a:avLst>
          </a:prstGeom>
          <a:solidFill xmlns:a="http://schemas.openxmlformats.org/drawingml/2006/main">
            <a:srgbClr val="2E9B7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1BCC82-4359-47DD-8BD6-96727A25ADE3}"/>
              </a:ext>
            </a:extLst>
          </p:cNvPr>
          <p:cNvSpPr>
            <a:spLocks xmlns:a="http://schemas.openxmlformats.org/drawingml/2006/main" noGrp="1"/>
          </p:cNvSpPr>
          <p:nvPr/>
        </p:nvSpPr>
        <p:spPr>
          <a:xfrm xmlns:a="http://schemas.openxmlformats.org/drawingml/2006/main">
            <a:off x="2047875" y="240982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VAD</a:t>
            </a:r>
          </a:p>
        </p:txBody>
      </p:sp>
      <p:sp>
        <p:nvSpPr>
          <p:cNvPr id="10" name="">
            <a:extLst xmlns:a="http://schemas.openxmlformats.org/drawingml/2006/main">
              <a:ext uri="{FF2B5EF4-FFF2-40B4-BE49-F238E27FC236}">
                <a16:creationId xmlns:a16="http://schemas.microsoft.com/office/drawing/2014/main" id="{0C55295F-7B29-4B0A-9B7E-F132D9129601}"/>
              </a:ext>
            </a:extLst>
          </p:cNvPr>
          <p:cNvSpPr>
            <a:spLocks xmlns:a="http://schemas.openxmlformats.org/drawingml/2006/main" noGrp="1"/>
          </p:cNvSpPr>
          <p:nvPr/>
        </p:nvSpPr>
        <p:spPr>
          <a:xfrm xmlns:a="http://schemas.openxmlformats.org/drawingml/2006/main">
            <a:off x="3028950" y="2381250"/>
            <a:ext cx="914400" cy="323850"/>
          </a:xfrm>
          <a:prstGeom xmlns:a="http://schemas.openxmlformats.org/drawingml/2006/main" prst="roundRect">
            <a:avLst>
              <a:gd name="adj" fmla="val 50000"/>
            </a:avLst>
          </a:prstGeom>
          <a:solidFill xmlns:a="http://schemas.openxmlformats.org/drawingml/2006/main">
            <a:srgbClr val="9B6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5518C2-0AC9-43C9-81BF-E60D52ABEF8D}"/>
              </a:ext>
            </a:extLst>
          </p:cNvPr>
          <p:cNvSpPr>
            <a:spLocks xmlns:a="http://schemas.openxmlformats.org/drawingml/2006/main" noGrp="1"/>
          </p:cNvSpPr>
          <p:nvPr/>
        </p:nvSpPr>
        <p:spPr>
          <a:xfrm xmlns:a="http://schemas.openxmlformats.org/drawingml/2006/main">
            <a:off x="3124200" y="240982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STT</a:t>
            </a:r>
          </a:p>
        </p:txBody>
      </p:sp>
      <p:sp>
        <p:nvSpPr>
          <p:cNvPr id="12" name="">
            <a:extLst xmlns:a="http://schemas.openxmlformats.org/drawingml/2006/main">
              <a:ext uri="{FF2B5EF4-FFF2-40B4-BE49-F238E27FC236}">
                <a16:creationId xmlns:a16="http://schemas.microsoft.com/office/drawing/2014/main" id="{81501298-6A63-4485-94AA-4BFE9254B1FC}"/>
              </a:ext>
            </a:extLst>
          </p:cNvPr>
          <p:cNvSpPr>
            <a:spLocks xmlns:a="http://schemas.openxmlformats.org/drawingml/2006/main" noGrp="1"/>
          </p:cNvSpPr>
          <p:nvPr/>
        </p:nvSpPr>
        <p:spPr>
          <a:xfrm xmlns:a="http://schemas.openxmlformats.org/drawingml/2006/main">
            <a:off x="4105275" y="2381250"/>
            <a:ext cx="914400" cy="323850"/>
          </a:xfrm>
          <a:prstGeom xmlns:a="http://schemas.openxmlformats.org/drawingml/2006/main" prst="roundRect">
            <a:avLst>
              <a:gd name="adj" fmla="val 50000"/>
            </a:avLst>
          </a:prstGeom>
          <a:solidFill xmlns:a="http://schemas.openxmlformats.org/drawingml/2006/main">
            <a:srgbClr val="63D8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07E6771-49DB-467F-B38A-4695CD3B314C}"/>
              </a:ext>
            </a:extLst>
          </p:cNvPr>
          <p:cNvSpPr>
            <a:spLocks xmlns:a="http://schemas.openxmlformats.org/drawingml/2006/main" noGrp="1"/>
          </p:cNvSpPr>
          <p:nvPr/>
        </p:nvSpPr>
        <p:spPr>
          <a:xfrm xmlns:a="http://schemas.openxmlformats.org/drawingml/2006/main">
            <a:off x="4200525" y="240982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C0922"/>
                </a:solidFill>
              </a:defRPr>
            </a:pPr>
            <a:r>
              <a:rPr sz="1050" b="1">
                <a:solidFill>
                  <a:srgbClr val="0C0922"/>
                </a:solidFill>
              </a:rPr>
              <a:t>DIARIZE</a:t>
            </a:r>
          </a:p>
        </p:txBody>
      </p:sp>
      <p:sp>
        <p:nvSpPr>
          <p:cNvPr id="14" name="">
            <a:extLst xmlns:a="http://schemas.openxmlformats.org/drawingml/2006/main">
              <a:ext uri="{FF2B5EF4-FFF2-40B4-BE49-F238E27FC236}">
                <a16:creationId xmlns:a16="http://schemas.microsoft.com/office/drawing/2014/main" id="{81053352-443A-4546-A17E-6EDB95B60247}"/>
              </a:ext>
            </a:extLst>
          </p:cNvPr>
          <p:cNvSpPr>
            <a:spLocks xmlns:a="http://schemas.openxmlformats.org/drawingml/2006/main" noGrp="1"/>
          </p:cNvSpPr>
          <p:nvPr/>
        </p:nvSpPr>
        <p:spPr>
          <a:xfrm xmlns:a="http://schemas.openxmlformats.org/drawingml/2006/main">
            <a:off x="5181600" y="2381250"/>
            <a:ext cx="914400" cy="323850"/>
          </a:xfrm>
          <a:prstGeom xmlns:a="http://schemas.openxmlformats.org/drawingml/2006/main" prst="roundRect">
            <a:avLst>
              <a:gd name="adj" fmla="val 50000"/>
            </a:avLst>
          </a:prstGeom>
          <a:solidFill xmlns:a="http://schemas.openxmlformats.org/drawingml/2006/main">
            <a:srgbClr val="D3902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B7360F1-4A0C-4223-805E-DCCE2328C327}"/>
              </a:ext>
            </a:extLst>
          </p:cNvPr>
          <p:cNvSpPr>
            <a:spLocks xmlns:a="http://schemas.openxmlformats.org/drawingml/2006/main" noGrp="1"/>
          </p:cNvSpPr>
          <p:nvPr/>
        </p:nvSpPr>
        <p:spPr>
          <a:xfrm xmlns:a="http://schemas.openxmlformats.org/drawingml/2006/main">
            <a:off x="5276850" y="240982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VOICE</a:t>
            </a:r>
          </a:p>
        </p:txBody>
      </p:sp>
      <p:sp>
        <p:nvSpPr>
          <p:cNvPr id="16" name="">
            <a:extLst xmlns:a="http://schemas.openxmlformats.org/drawingml/2006/main">
              <a:ext uri="{FF2B5EF4-FFF2-40B4-BE49-F238E27FC236}">
                <a16:creationId xmlns:a16="http://schemas.microsoft.com/office/drawing/2014/main" id="{767F0139-69CE-45D4-82D3-DB60B4A902EF}"/>
              </a:ext>
            </a:extLst>
          </p:cNvPr>
          <p:cNvSpPr>
            <a:spLocks xmlns:a="http://schemas.openxmlformats.org/drawingml/2006/main" noGrp="1"/>
          </p:cNvSpPr>
          <p:nvPr/>
        </p:nvSpPr>
        <p:spPr>
          <a:xfrm xmlns:a="http://schemas.openxmlformats.org/drawingml/2006/main">
            <a:off x="876300" y="2876550"/>
            <a:ext cx="539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CFC7E1"/>
                </a:solidFill>
              </a:defRPr>
            </a:pPr>
            <a:r>
              <a:rPr sz="938" b="0">
                <a:solidFill>
                  <a:srgbClr val="CFC7E1"/>
                </a:solidFill>
              </a:rPr>
              <a:t>ffmpeg → local speech detection → Soniox / fallback → speaker structure → conservative directory match</a:t>
            </a:r>
          </a:p>
        </p:txBody>
      </p:sp>
      <p:sp>
        <p:nvSpPr>
          <p:cNvPr id="17" name="">
            <a:extLst xmlns:a="http://schemas.openxmlformats.org/drawingml/2006/main">
              <a:ext uri="{FF2B5EF4-FFF2-40B4-BE49-F238E27FC236}">
                <a16:creationId xmlns:a16="http://schemas.microsoft.com/office/drawing/2014/main" id="{24CBBA2B-59EE-439F-895B-EA07A80DFF3D}"/>
              </a:ext>
            </a:extLst>
          </p:cNvPr>
          <p:cNvSpPr>
            <a:spLocks xmlns:a="http://schemas.openxmlformats.org/drawingml/2006/main" noGrp="1"/>
          </p:cNvSpPr>
          <p:nvPr/>
        </p:nvSpPr>
        <p:spPr>
          <a:xfrm xmlns:a="http://schemas.openxmlformats.org/drawingml/2006/main">
            <a:off x="666750" y="3657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3D8FF"/>
                </a:solidFill>
              </a:defRPr>
            </a:pPr>
            <a:r>
              <a:rPr sz="975" b="1">
                <a:solidFill>
                  <a:srgbClr val="63D8FF"/>
                </a:solidFill>
              </a:rPr>
              <a:t>THE TIMING LADDER</a:t>
            </a:r>
          </a:p>
        </p:txBody>
      </p:sp>
      <p:sp>
        <p:nvSpPr>
          <p:cNvPr id="18" name="">
            <a:extLst xmlns:a="http://schemas.openxmlformats.org/drawingml/2006/main">
              <a:ext uri="{FF2B5EF4-FFF2-40B4-BE49-F238E27FC236}">
                <a16:creationId xmlns:a16="http://schemas.microsoft.com/office/drawing/2014/main" id="{4066B328-1748-4DBF-83EC-8B5F14E6001B}"/>
              </a:ext>
            </a:extLst>
          </p:cNvPr>
          <p:cNvSpPr>
            <a:spLocks xmlns:a="http://schemas.openxmlformats.org/drawingml/2006/main" noGrp="1"/>
          </p:cNvSpPr>
          <p:nvPr/>
        </p:nvSpPr>
        <p:spPr>
          <a:xfrm xmlns:a="http://schemas.openxmlformats.org/drawingml/2006/main">
            <a:off x="666750" y="4038600"/>
            <a:ext cx="1600200" cy="819150"/>
          </a:xfrm>
          <a:prstGeom xmlns:a="http://schemas.openxmlformats.org/drawingml/2006/main" prst="roundRect">
            <a:avLst>
              <a:gd name="adj" fmla="val 13953"/>
            </a:avLst>
          </a:prstGeom>
          <a:solidFill xmlns:a="http://schemas.openxmlformats.org/drawingml/2006/main">
            <a:srgbClr val="6F43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71BF315-D251-4A95-8035-B6A265371A65}"/>
              </a:ext>
            </a:extLst>
          </p:cNvPr>
          <p:cNvSpPr>
            <a:spLocks xmlns:a="http://schemas.openxmlformats.org/drawingml/2006/main" noGrp="1"/>
          </p:cNvSpPr>
          <p:nvPr/>
        </p:nvSpPr>
        <p:spPr>
          <a:xfrm xmlns:a="http://schemas.openxmlformats.org/drawingml/2006/main">
            <a:off x="781050" y="4133850"/>
            <a:ext cx="137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WORD</a:t>
            </a:r>
          </a:p>
        </p:txBody>
      </p:sp>
      <p:sp>
        <p:nvSpPr>
          <p:cNvPr id="20" name="">
            <a:extLst xmlns:a="http://schemas.openxmlformats.org/drawingml/2006/main">
              <a:ext uri="{FF2B5EF4-FFF2-40B4-BE49-F238E27FC236}">
                <a16:creationId xmlns:a16="http://schemas.microsoft.com/office/drawing/2014/main" id="{A1CE7997-1AEF-4DC1-B179-A2E9117A2669}"/>
              </a:ext>
            </a:extLst>
          </p:cNvPr>
          <p:cNvSpPr>
            <a:spLocks xmlns:a="http://schemas.openxmlformats.org/drawingml/2006/main" noGrp="1"/>
          </p:cNvSpPr>
          <p:nvPr/>
        </p:nvSpPr>
        <p:spPr>
          <a:xfrm xmlns:a="http://schemas.openxmlformats.org/drawingml/2006/main">
            <a:off x="781050" y="4419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click a word</a:t>
            </a:r>
          </a:p>
        </p:txBody>
      </p:sp>
      <p:sp>
        <p:nvSpPr>
          <p:cNvPr id="21" name="">
            <a:extLst xmlns:a="http://schemas.openxmlformats.org/drawingml/2006/main">
              <a:ext uri="{FF2B5EF4-FFF2-40B4-BE49-F238E27FC236}">
                <a16:creationId xmlns:a16="http://schemas.microsoft.com/office/drawing/2014/main" id="{5612BC7A-17E0-434D-B58D-F040E4342E0E}"/>
              </a:ext>
            </a:extLst>
          </p:cNvPr>
          <p:cNvSpPr>
            <a:spLocks xmlns:a="http://schemas.openxmlformats.org/drawingml/2006/main" noGrp="1"/>
          </p:cNvSpPr>
          <p:nvPr/>
        </p:nvSpPr>
        <p:spPr>
          <a:xfrm xmlns:a="http://schemas.openxmlformats.org/drawingml/2006/main">
            <a:off x="2686050" y="4038600"/>
            <a:ext cx="1600200" cy="819150"/>
          </a:xfrm>
          <a:prstGeom xmlns:a="http://schemas.openxmlformats.org/drawingml/2006/main" prst="roundRect">
            <a:avLst>
              <a:gd name="adj" fmla="val 13953"/>
            </a:avLst>
          </a:prstGeom>
          <a:solidFill xmlns:a="http://schemas.openxmlformats.org/drawingml/2006/main">
            <a:srgbClr val="9B6D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30CE3A5-9806-43DB-8472-A98608C74F6E}"/>
              </a:ext>
            </a:extLst>
          </p:cNvPr>
          <p:cNvSpPr>
            <a:spLocks xmlns:a="http://schemas.openxmlformats.org/drawingml/2006/main" noGrp="1"/>
          </p:cNvSpPr>
          <p:nvPr/>
        </p:nvSpPr>
        <p:spPr>
          <a:xfrm xmlns:a="http://schemas.openxmlformats.org/drawingml/2006/main">
            <a:off x="2800350" y="4133850"/>
            <a:ext cx="137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LINE</a:t>
            </a:r>
          </a:p>
        </p:txBody>
      </p:sp>
      <p:sp>
        <p:nvSpPr>
          <p:cNvPr id="23" name="">
            <a:extLst xmlns:a="http://schemas.openxmlformats.org/drawingml/2006/main">
              <a:ext uri="{FF2B5EF4-FFF2-40B4-BE49-F238E27FC236}">
                <a16:creationId xmlns:a16="http://schemas.microsoft.com/office/drawing/2014/main" id="{8EC265FB-6E28-435C-89E7-6AABE2FBFF71}"/>
              </a:ext>
            </a:extLst>
          </p:cNvPr>
          <p:cNvSpPr>
            <a:spLocks xmlns:a="http://schemas.openxmlformats.org/drawingml/2006/main" noGrp="1"/>
          </p:cNvSpPr>
          <p:nvPr/>
        </p:nvSpPr>
        <p:spPr>
          <a:xfrm xmlns:a="http://schemas.openxmlformats.org/drawingml/2006/main">
            <a:off x="2800350" y="4419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click a segment</a:t>
            </a:r>
          </a:p>
        </p:txBody>
      </p:sp>
      <p:sp>
        <p:nvSpPr>
          <p:cNvPr id="24" name="">
            <a:extLst xmlns:a="http://schemas.openxmlformats.org/drawingml/2006/main">
              <a:ext uri="{FF2B5EF4-FFF2-40B4-BE49-F238E27FC236}">
                <a16:creationId xmlns:a16="http://schemas.microsoft.com/office/drawing/2014/main" id="{2CAED0B5-FFB3-40AE-A922-9E1149823633}"/>
              </a:ext>
            </a:extLst>
          </p:cNvPr>
          <p:cNvSpPr>
            <a:spLocks xmlns:a="http://schemas.openxmlformats.org/drawingml/2006/main" noGrp="1"/>
          </p:cNvSpPr>
          <p:nvPr/>
        </p:nvSpPr>
        <p:spPr>
          <a:xfrm xmlns:a="http://schemas.openxmlformats.org/drawingml/2006/main">
            <a:off x="4705350" y="4038600"/>
            <a:ext cx="1771650" cy="819150"/>
          </a:xfrm>
          <a:prstGeom xmlns:a="http://schemas.openxmlformats.org/drawingml/2006/main" prst="roundRect">
            <a:avLst>
              <a:gd name="adj" fmla="val 13953"/>
            </a:avLst>
          </a:prstGeom>
          <a:solidFill xmlns:a="http://schemas.openxmlformats.org/drawingml/2006/main">
            <a:srgbClr val="FF6F6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B82667A-7043-46F0-8AD4-B87632D8ECAA}"/>
              </a:ext>
            </a:extLst>
          </p:cNvPr>
          <p:cNvSpPr>
            <a:spLocks xmlns:a="http://schemas.openxmlformats.org/drawingml/2006/main" noGrp="1"/>
          </p:cNvSpPr>
          <p:nvPr/>
        </p:nvSpPr>
        <p:spPr>
          <a:xfrm xmlns:a="http://schemas.openxmlformats.org/drawingml/2006/main">
            <a:off x="4819650" y="41338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ANCHORED SPAN</a:t>
            </a:r>
          </a:p>
        </p:txBody>
      </p:sp>
      <p:sp>
        <p:nvSpPr>
          <p:cNvPr id="26" name="">
            <a:extLst xmlns:a="http://schemas.openxmlformats.org/drawingml/2006/main">
              <a:ext uri="{FF2B5EF4-FFF2-40B4-BE49-F238E27FC236}">
                <a16:creationId xmlns:a16="http://schemas.microsoft.com/office/drawing/2014/main" id="{420439BD-BAEB-4E07-BE8A-64C28D27E3AA}"/>
              </a:ext>
            </a:extLst>
          </p:cNvPr>
          <p:cNvSpPr>
            <a:spLocks xmlns:a="http://schemas.openxmlformats.org/drawingml/2006/main" noGrp="1"/>
          </p:cNvSpPr>
          <p:nvPr/>
        </p:nvSpPr>
        <p:spPr>
          <a:xfrm xmlns:a="http://schemas.openxmlformats.org/drawingml/2006/main">
            <a:off x="4819650" y="4419600"/>
            <a:ext cx="1543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honest coarse seek</a:t>
            </a:r>
          </a:p>
        </p:txBody>
      </p:sp>
      <p:cxnSp>
        <p:nvCxnSpPr>
          <p:cNvPr id="60" name=""/>
          <p:cNvCxnSpPr>
            <a:stCxn xmlns:a="http://schemas.openxmlformats.org/drawingml/2006/main" id="18" idx="3"/>
            <a:endCxn xmlns:a="http://schemas.openxmlformats.org/drawingml/2006/main" id="21" idx="1"/>
          </p:cNvCxnSpPr>
          <p:nvPr/>
        </p:nvCxnSpPr>
        <p:spPr>
          <a:xfrm xmlns:a="http://schemas.openxmlformats.org/drawingml/2006/main">
            <a:off x="2266950" y="4448175"/>
            <a:ext cx="419100" cy="0"/>
          </a:xfrm>
          <a:prstGeom xmlns:a="http://schemas.openxmlformats.org/drawingml/2006/main" prst="straightConnector1">
            <a:avLst/>
          </a:prstGeom>
          <a:ln xmlns:a="http://schemas.openxmlformats.org/drawingml/2006/main" w="20955">
            <a:solidFill>
              <a:srgbClr val="7F72A8"/>
            </a:solidFill>
            <a:prstDash val="solid"/>
            <a:tailEnd type="arrow" w="med" len="med"/>
          </a:ln>
        </p:spPr>
      </p:cxnSp>
      <p:cxnSp>
        <p:nvCxnSpPr>
          <p:cNvPr id="61" name=""/>
          <p:cNvCxnSpPr>
            <a:stCxn xmlns:a="http://schemas.openxmlformats.org/drawingml/2006/main" id="21" idx="3"/>
            <a:endCxn xmlns:a="http://schemas.openxmlformats.org/drawingml/2006/main" id="24" idx="1"/>
          </p:cNvCxnSpPr>
          <p:nvPr/>
        </p:nvCxnSpPr>
        <p:spPr>
          <a:xfrm xmlns:a="http://schemas.openxmlformats.org/drawingml/2006/main">
            <a:off x="4286250" y="4448175"/>
            <a:ext cx="419100" cy="0"/>
          </a:xfrm>
          <a:prstGeom xmlns:a="http://schemas.openxmlformats.org/drawingml/2006/main" prst="straightConnector1">
            <a:avLst/>
          </a:prstGeom>
          <a:ln xmlns:a="http://schemas.openxmlformats.org/drawingml/2006/main" w="20955">
            <a:solidFill>
              <a:srgbClr val="7F72A8"/>
            </a:solidFill>
            <a:prstDash val="solid"/>
            <a:tailEnd type="arrow" w="med" len="med"/>
          </a:ln>
        </p:spPr>
      </p:cxnSp>
      <p:sp>
        <p:nvSpPr>
          <p:cNvPr id="29" name="">
            <a:extLst xmlns:a="http://schemas.openxmlformats.org/drawingml/2006/main">
              <a:ext uri="{FF2B5EF4-FFF2-40B4-BE49-F238E27FC236}">
                <a16:creationId xmlns:a16="http://schemas.microsoft.com/office/drawing/2014/main" id="{579DAE5A-E041-448C-A3F0-83EB56ADB473}"/>
              </a:ext>
            </a:extLst>
          </p:cNvPr>
          <p:cNvSpPr>
            <a:spLocks xmlns:a="http://schemas.openxmlformats.org/drawingml/2006/main" noGrp="1"/>
          </p:cNvSpPr>
          <p:nvPr/>
        </p:nvSpPr>
        <p:spPr>
          <a:xfrm xmlns:a="http://schemas.openxmlformats.org/drawingml/2006/main">
            <a:off x="666750" y="5219700"/>
            <a:ext cx="5810250" cy="647700"/>
          </a:xfrm>
          <a:prstGeom xmlns:a="http://schemas.openxmlformats.org/drawingml/2006/main" prst="roundRect">
            <a:avLst>
              <a:gd name="adj" fmla="val 17647"/>
            </a:avLst>
          </a:prstGeom>
          <a:solidFill xmlns:a="http://schemas.openxmlformats.org/drawingml/2006/main">
            <a:srgbClr val="211844"/>
          </a:solidFill>
          <a:ln xmlns:a="http://schemas.openxmlformats.org/drawingml/2006/main" w="9525">
            <a:solidFill>
              <a:srgbClr val="392C60"/>
            </a:solidFill>
            <a:prstDash val="solid"/>
          </a:ln>
        </p:spPr>
      </p:sp>
      <p:sp>
        <p:nvSpPr>
          <p:cNvPr id="30" name="">
            <a:extLst xmlns:a="http://schemas.openxmlformats.org/drawingml/2006/main">
              <a:ext uri="{FF2B5EF4-FFF2-40B4-BE49-F238E27FC236}">
                <a16:creationId xmlns:a16="http://schemas.microsoft.com/office/drawing/2014/main" id="{4D450B32-D95D-42BB-8629-8891265F01A7}"/>
              </a:ext>
            </a:extLst>
          </p:cNvPr>
          <p:cNvSpPr>
            <a:spLocks xmlns:a="http://schemas.openxmlformats.org/drawingml/2006/main" noGrp="1"/>
          </p:cNvSpPr>
          <p:nvPr/>
        </p:nvSpPr>
        <p:spPr>
          <a:xfrm xmlns:a="http://schemas.openxmlformats.org/drawingml/2006/main">
            <a:off x="838200" y="5372100"/>
            <a:ext cx="546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137"/>
          </a:bodyPr>
          <a:lstStyle xmlns:a="http://schemas.openxmlformats.org/drawingml/2006/main"/>
          <a:p xmlns:a="http://schemas.openxmlformats.org/drawingml/2006/main">
            <a:pPr algn="ctr">
              <a:defRPr sz="1275" b="1">
                <a:solidFill>
                  <a:srgbClr val="FFFFFF"/>
                </a:solidFill>
              </a:defRPr>
            </a:pPr>
            <a:r>
              <a:rPr sz="1275" b="1">
                <a:solidFill>
                  <a:srgbClr val="FFFFFF"/>
                </a:solidFill>
              </a:rPr>
              <a:t>No timestamps never becomes ‘nothing’. It becomes a real speech span—with provenance.</a:t>
            </a:r>
          </a:p>
        </p:txBody>
      </p:sp>
      <p:sp>
        <p:nvSpPr>
          <p:cNvPr id="31" name="">
            <a:extLst xmlns:a="http://schemas.openxmlformats.org/drawingml/2006/main">
              <a:ext uri="{FF2B5EF4-FFF2-40B4-BE49-F238E27FC236}">
                <a16:creationId xmlns:a16="http://schemas.microsoft.com/office/drawing/2014/main" id="{94951E68-1E79-4554-8446-6B6E29D82A7A}"/>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3A315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0A6D3E1-3F84-401D-BB65-FDBBC519E7DB}"/>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9B6DFF"/>
                </a:solidFill>
              </a:defRPr>
            </a:pPr>
            <a:r>
              <a:rPr sz="750" b="1">
                <a:solidFill>
                  <a:srgbClr val="9B6DFF"/>
                </a:solidFill>
              </a:rPr>
              <a:t>NEURAI PLATFORM</a:t>
            </a:r>
          </a:p>
        </p:txBody>
      </p:sp>
      <p:sp>
        <p:nvSpPr>
          <p:cNvPr id="33" name="">
            <a:extLst xmlns:a="http://schemas.openxmlformats.org/drawingml/2006/main">
              <a:ext uri="{FF2B5EF4-FFF2-40B4-BE49-F238E27FC236}">
                <a16:creationId xmlns:a16="http://schemas.microsoft.com/office/drawing/2014/main" id="{6894C660-CAA8-46B7-8902-72AF94665A78}"/>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9288A9"/>
                </a:solidFill>
              </a:defRPr>
            </a:pPr>
            <a:r>
              <a:rPr sz="750" b="1">
                <a:solidFill>
                  <a:srgbClr val="9288A9"/>
                </a:solidFill>
              </a:rPr>
              <a:t>08</a:t>
            </a:r>
          </a:p>
        </p:txBody>
      </p:sp>
    </p:spTree>
    <p:extLst>
      <p:ext uri="{BB962C8B-B14F-4D97-AF65-F5344CB8AC3E}">
        <p14:creationId xmlns:p14="http://schemas.microsoft.com/office/powerpoint/2010/main" val="1886853959"/>
      </p:ext>
    </p:extLst>
  </p:cSld>
</p:sld>
</file>

<file path=ppt/slides/slide9.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DFAF342B-F978-455C-A2B3-75B91A2C49BC}"/>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43E7"/>
                </a:solidFill>
              </a:defRPr>
            </a:pPr>
            <a:r>
              <a:rPr sz="975" b="1">
                <a:solidFill>
                  <a:srgbClr val="6F43E7"/>
                </a:solidFill>
              </a:rPr>
              <a:t>COMPETITIVE POSITION</a:t>
            </a:r>
          </a:p>
        </p:txBody>
      </p:sp>
      <p:sp>
        <p:nvSpPr>
          <p:cNvPr id="2" name="">
            <a:extLst xmlns:a="http://schemas.openxmlformats.org/drawingml/2006/main">
              <a:ext uri="{FF2B5EF4-FFF2-40B4-BE49-F238E27FC236}">
                <a16:creationId xmlns:a16="http://schemas.microsoft.com/office/drawing/2014/main" id="{1C226DF4-7AAD-4EA0-AB1F-2C196DE5891F}"/>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81424"/>
                </a:solidFill>
              </a:defRPr>
            </a:pPr>
            <a:r>
              <a:rPr sz="2850" b="1">
                <a:solidFill>
                  <a:srgbClr val="181424"/>
                </a:solidFill>
              </a:rPr>
              <a:t>The category is proven. Our opening is still distinct.</a:t>
            </a:r>
          </a:p>
        </p:txBody>
      </p:sp>
      <p:sp>
        <p:nvSpPr>
          <p:cNvPr id="3" name="">
            <a:extLst xmlns:a="http://schemas.openxmlformats.org/drawingml/2006/main">
              <a:ext uri="{FF2B5EF4-FFF2-40B4-BE49-F238E27FC236}">
                <a16:creationId xmlns:a16="http://schemas.microsoft.com/office/drawing/2014/main" id="{6D8D9BC8-A78D-4E74-A8C3-101D27475FF7}"/>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716A7C"/>
                </a:solidFill>
              </a:defRPr>
            </a:pPr>
            <a:r>
              <a:rPr sz="1350" b="0">
                <a:solidFill>
                  <a:srgbClr val="716A7C"/>
                </a:solidFill>
              </a:rPr>
              <a:t>Three excellent reference competitors—compared on strategy, not feature-count theatre.</a:t>
            </a:r>
          </a:p>
        </p:txBody>
      </p:sp>
      <p:sp>
        <p:nvSpPr>
          <p:cNvPr id="4" name="">
            <a:extLst xmlns:a="http://schemas.openxmlformats.org/drawingml/2006/main">
              <a:ext uri="{FF2B5EF4-FFF2-40B4-BE49-F238E27FC236}">
                <a16:creationId xmlns:a16="http://schemas.microsoft.com/office/drawing/2014/main" id="{2CC6618A-F932-491D-9B10-B85199DBC1BD}"/>
              </a:ext>
            </a:extLst>
          </p:cNvPr>
          <p:cNvSpPr>
            <a:spLocks xmlns:a="http://schemas.openxmlformats.org/drawingml/2006/main" noGrp="1"/>
          </p:cNvSpPr>
          <p:nvPr/>
        </p:nvSpPr>
        <p:spPr>
          <a:xfrm xmlns:a="http://schemas.openxmlformats.org/drawingml/2006/main">
            <a:off x="552450" y="2076450"/>
            <a:ext cx="1809750" cy="476250"/>
          </a:xfrm>
          <a:prstGeom xmlns:a="http://schemas.openxmlformats.org/drawingml/2006/main" prst="roundRect">
            <a:avLst>
              <a:gd name="adj" fmla="val 24000"/>
            </a:avLst>
          </a:prstGeom>
          <a:solidFill xmlns:a="http://schemas.openxmlformats.org/drawingml/2006/main">
            <a:srgbClr val="0C092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0B6440A-7DF2-4BD4-8934-6C672AF52688}"/>
              </a:ext>
            </a:extLst>
          </p:cNvPr>
          <p:cNvSpPr>
            <a:spLocks xmlns:a="http://schemas.openxmlformats.org/drawingml/2006/main" noGrp="1"/>
          </p:cNvSpPr>
          <p:nvPr/>
        </p:nvSpPr>
        <p:spPr>
          <a:xfrm xmlns:a="http://schemas.openxmlformats.org/drawingml/2006/main">
            <a:off x="647700" y="21526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FFFFFF"/>
                </a:solidFill>
              </a:defRPr>
            </a:pPr>
            <a:r>
              <a:rPr sz="900" b="1">
                <a:solidFill>
                  <a:srgbClr val="FFFFFF"/>
                </a:solidFill>
              </a:rPr>
              <a:t>PLATFORM</a:t>
            </a:r>
          </a:p>
        </p:txBody>
      </p:sp>
      <p:sp>
        <p:nvSpPr>
          <p:cNvPr id="6" name="">
            <a:extLst xmlns:a="http://schemas.openxmlformats.org/drawingml/2006/main">
              <a:ext uri="{FF2B5EF4-FFF2-40B4-BE49-F238E27FC236}">
                <a16:creationId xmlns:a16="http://schemas.microsoft.com/office/drawing/2014/main" id="{F991108F-E32B-4ED9-B2FA-04E110A0AF1B}"/>
              </a:ext>
            </a:extLst>
          </p:cNvPr>
          <p:cNvSpPr>
            <a:spLocks xmlns:a="http://schemas.openxmlformats.org/drawingml/2006/main" noGrp="1"/>
          </p:cNvSpPr>
          <p:nvPr/>
        </p:nvSpPr>
        <p:spPr>
          <a:xfrm xmlns:a="http://schemas.openxmlformats.org/drawingml/2006/main">
            <a:off x="2362200" y="2076450"/>
            <a:ext cx="2781300" cy="476250"/>
          </a:xfrm>
          <a:prstGeom xmlns:a="http://schemas.openxmlformats.org/drawingml/2006/main" prst="rect">
            <a:avLst/>
          </a:prstGeom>
          <a:solidFill xmlns:a="http://schemas.openxmlformats.org/drawingml/2006/main">
            <a:srgbClr val="0C092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9066DE9-FE28-4E82-937E-28946696FE6C}"/>
              </a:ext>
            </a:extLst>
          </p:cNvPr>
          <p:cNvSpPr>
            <a:spLocks xmlns:a="http://schemas.openxmlformats.org/drawingml/2006/main" noGrp="1"/>
          </p:cNvSpPr>
          <p:nvPr/>
        </p:nvSpPr>
        <p:spPr>
          <a:xfrm xmlns:a="http://schemas.openxmlformats.org/drawingml/2006/main">
            <a:off x="2457450" y="215265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BEST-KNOWN STRENGTH</a:t>
            </a:r>
          </a:p>
        </p:txBody>
      </p:sp>
      <p:sp>
        <p:nvSpPr>
          <p:cNvPr id="8" name="">
            <a:extLst xmlns:a="http://schemas.openxmlformats.org/drawingml/2006/main">
              <a:ext uri="{FF2B5EF4-FFF2-40B4-BE49-F238E27FC236}">
                <a16:creationId xmlns:a16="http://schemas.microsoft.com/office/drawing/2014/main" id="{7B875897-FC7D-4E45-AD98-82FAA3FF7B86}"/>
              </a:ext>
            </a:extLst>
          </p:cNvPr>
          <p:cNvSpPr>
            <a:spLocks xmlns:a="http://schemas.openxmlformats.org/drawingml/2006/main" noGrp="1"/>
          </p:cNvSpPr>
          <p:nvPr/>
        </p:nvSpPr>
        <p:spPr>
          <a:xfrm xmlns:a="http://schemas.openxmlformats.org/drawingml/2006/main">
            <a:off x="5143500" y="2076450"/>
            <a:ext cx="2781300" cy="476250"/>
          </a:xfrm>
          <a:prstGeom xmlns:a="http://schemas.openxmlformats.org/drawingml/2006/main" prst="rect">
            <a:avLst/>
          </a:prstGeom>
          <a:solidFill xmlns:a="http://schemas.openxmlformats.org/drawingml/2006/main">
            <a:srgbClr val="0C092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1B26A15-ACF9-43B2-BCE3-C55576F764F0}"/>
              </a:ext>
            </a:extLst>
          </p:cNvPr>
          <p:cNvSpPr>
            <a:spLocks xmlns:a="http://schemas.openxmlformats.org/drawingml/2006/main" noGrp="1"/>
          </p:cNvSpPr>
          <p:nvPr/>
        </p:nvSpPr>
        <p:spPr>
          <a:xfrm xmlns:a="http://schemas.openxmlformats.org/drawingml/2006/main">
            <a:off x="5238750" y="215265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CLOSEST OVERLAP</a:t>
            </a:r>
          </a:p>
        </p:txBody>
      </p:sp>
      <p:sp>
        <p:nvSpPr>
          <p:cNvPr id="10" name="">
            <a:extLst xmlns:a="http://schemas.openxmlformats.org/drawingml/2006/main">
              <a:ext uri="{FF2B5EF4-FFF2-40B4-BE49-F238E27FC236}">
                <a16:creationId xmlns:a16="http://schemas.microsoft.com/office/drawing/2014/main" id="{5342A914-9AFE-412A-B184-E91DEED8752F}"/>
              </a:ext>
            </a:extLst>
          </p:cNvPr>
          <p:cNvSpPr>
            <a:spLocks xmlns:a="http://schemas.openxmlformats.org/drawingml/2006/main" noGrp="1"/>
          </p:cNvSpPr>
          <p:nvPr/>
        </p:nvSpPr>
        <p:spPr>
          <a:xfrm xmlns:a="http://schemas.openxmlformats.org/drawingml/2006/main">
            <a:off x="7924800" y="2076450"/>
            <a:ext cx="3714750" cy="476250"/>
          </a:xfrm>
          <a:prstGeom xmlns:a="http://schemas.openxmlformats.org/drawingml/2006/main" prst="roundRect">
            <a:avLst>
              <a:gd name="adj" fmla="val 24000"/>
            </a:avLst>
          </a:prstGeom>
          <a:solidFill xmlns:a="http://schemas.openxmlformats.org/drawingml/2006/main">
            <a:srgbClr val="6F43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1E2F5C5-1D6F-4D1A-AAC0-D3BC046A6BCD}"/>
              </a:ext>
            </a:extLst>
          </p:cNvPr>
          <p:cNvSpPr>
            <a:spLocks xmlns:a="http://schemas.openxmlformats.org/drawingml/2006/main" noGrp="1"/>
          </p:cNvSpPr>
          <p:nvPr/>
        </p:nvSpPr>
        <p:spPr>
          <a:xfrm xmlns:a="http://schemas.openxmlformats.org/drawingml/2006/main">
            <a:off x="8020050" y="21526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NEURAI STRATEGIC CONTRAST</a:t>
            </a:r>
          </a:p>
        </p:txBody>
      </p:sp>
      <p:sp>
        <p:nvSpPr>
          <p:cNvPr id="12" name="">
            <a:extLst xmlns:a="http://schemas.openxmlformats.org/drawingml/2006/main">
              <a:ext uri="{FF2B5EF4-FFF2-40B4-BE49-F238E27FC236}">
                <a16:creationId xmlns:a16="http://schemas.microsoft.com/office/drawing/2014/main" id="{3BDF7059-799C-4185-B1FD-47734EC6BC03}"/>
              </a:ext>
            </a:extLst>
          </p:cNvPr>
          <p:cNvSpPr>
            <a:spLocks xmlns:a="http://schemas.openxmlformats.org/drawingml/2006/main" noGrp="1"/>
          </p:cNvSpPr>
          <p:nvPr/>
        </p:nvSpPr>
        <p:spPr>
          <a:xfrm xmlns:a="http://schemas.openxmlformats.org/drawingml/2006/main">
            <a:off x="552450" y="2552700"/>
            <a:ext cx="1809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DD7E5"/>
            </a:solidFill>
            <a:prstDash val="solid"/>
          </a:ln>
        </p:spPr>
      </p:sp>
      <p:sp>
        <p:nvSpPr>
          <p:cNvPr id="13" name="">
            <a:extLst xmlns:a="http://schemas.openxmlformats.org/drawingml/2006/main">
              <a:ext uri="{FF2B5EF4-FFF2-40B4-BE49-F238E27FC236}">
                <a16:creationId xmlns:a16="http://schemas.microsoft.com/office/drawing/2014/main" id="{011937AE-4B6D-425D-AF77-88887B4E74A3}"/>
              </a:ext>
            </a:extLst>
          </p:cNvPr>
          <p:cNvSpPr>
            <a:spLocks xmlns:a="http://schemas.openxmlformats.org/drawingml/2006/main" noGrp="1"/>
          </p:cNvSpPr>
          <p:nvPr/>
        </p:nvSpPr>
        <p:spPr>
          <a:xfrm xmlns:a="http://schemas.openxmlformats.org/drawingml/2006/main">
            <a:off x="685800" y="2686050"/>
            <a:ext cx="154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81424"/>
                </a:solidFill>
              </a:defRPr>
            </a:pPr>
            <a:r>
              <a:rPr sz="1200" b="1">
                <a:solidFill>
                  <a:srgbClr val="181424"/>
                </a:solidFill>
              </a:rPr>
              <a:t>GONG</a:t>
            </a:r>
          </a:p>
        </p:txBody>
      </p:sp>
      <p:sp>
        <p:nvSpPr>
          <p:cNvPr id="14" name="">
            <a:extLst xmlns:a="http://schemas.openxmlformats.org/drawingml/2006/main">
              <a:ext uri="{FF2B5EF4-FFF2-40B4-BE49-F238E27FC236}">
                <a16:creationId xmlns:a16="http://schemas.microsoft.com/office/drawing/2014/main" id="{9F2C8B9D-77BD-494E-9DD5-FC985BE3DEB1}"/>
              </a:ext>
            </a:extLst>
          </p:cNvPr>
          <p:cNvSpPr>
            <a:spLocks xmlns:a="http://schemas.openxmlformats.org/drawingml/2006/main" noGrp="1"/>
          </p:cNvSpPr>
          <p:nvPr/>
        </p:nvSpPr>
        <p:spPr>
          <a:xfrm xmlns:a="http://schemas.openxmlformats.org/drawingml/2006/main">
            <a:off x="2362200" y="2552700"/>
            <a:ext cx="27813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DD7E5"/>
            </a:solidFill>
            <a:prstDash val="solid"/>
          </a:ln>
        </p:spPr>
      </p:sp>
      <p:sp>
        <p:nvSpPr>
          <p:cNvPr id="15" name="">
            <a:extLst xmlns:a="http://schemas.openxmlformats.org/drawingml/2006/main">
              <a:ext uri="{FF2B5EF4-FFF2-40B4-BE49-F238E27FC236}">
                <a16:creationId xmlns:a16="http://schemas.microsoft.com/office/drawing/2014/main" id="{F6E87E2E-DA3F-424E-99F6-BE1F3EC79651}"/>
              </a:ext>
            </a:extLst>
          </p:cNvPr>
          <p:cNvSpPr>
            <a:spLocks xmlns:a="http://schemas.openxmlformats.org/drawingml/2006/main" noGrp="1"/>
          </p:cNvSpPr>
          <p:nvPr/>
        </p:nvSpPr>
        <p:spPr>
          <a:xfrm xmlns:a="http://schemas.openxmlformats.org/drawingml/2006/main">
            <a:off x="2495550" y="2686050"/>
            <a:ext cx="2514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181424"/>
                </a:solidFill>
              </a:defRPr>
            </a:pPr>
            <a:r>
              <a:rPr sz="1050" b="0">
                <a:solidFill>
                  <a:srgbClr val="181424"/>
                </a:solidFill>
              </a:rPr>
              <a:t>Revenue AI, deal signals, coaching, forecasting</a:t>
            </a:r>
          </a:p>
        </p:txBody>
      </p:sp>
      <p:sp>
        <p:nvSpPr>
          <p:cNvPr id="16" name="">
            <a:extLst xmlns:a="http://schemas.openxmlformats.org/drawingml/2006/main">
              <a:ext uri="{FF2B5EF4-FFF2-40B4-BE49-F238E27FC236}">
                <a16:creationId xmlns:a16="http://schemas.microsoft.com/office/drawing/2014/main" id="{F7E519E0-50B8-419D-8FBF-0C4CCEB312B8}"/>
              </a:ext>
            </a:extLst>
          </p:cNvPr>
          <p:cNvSpPr>
            <a:spLocks xmlns:a="http://schemas.openxmlformats.org/drawingml/2006/main" noGrp="1"/>
          </p:cNvSpPr>
          <p:nvPr/>
        </p:nvSpPr>
        <p:spPr>
          <a:xfrm xmlns:a="http://schemas.openxmlformats.org/drawingml/2006/main">
            <a:off x="5143500" y="2552700"/>
            <a:ext cx="27813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DD7E5"/>
            </a:solidFill>
            <a:prstDash val="solid"/>
          </a:ln>
        </p:spPr>
      </p:sp>
      <p:sp>
        <p:nvSpPr>
          <p:cNvPr id="17" name="">
            <a:extLst xmlns:a="http://schemas.openxmlformats.org/drawingml/2006/main">
              <a:ext uri="{FF2B5EF4-FFF2-40B4-BE49-F238E27FC236}">
                <a16:creationId xmlns:a16="http://schemas.microsoft.com/office/drawing/2014/main" id="{2A4EE469-1CB4-4A34-9E4E-0A83E5EF3EC8}"/>
              </a:ext>
            </a:extLst>
          </p:cNvPr>
          <p:cNvSpPr>
            <a:spLocks xmlns:a="http://schemas.openxmlformats.org/drawingml/2006/main" noGrp="1"/>
          </p:cNvSpPr>
          <p:nvPr/>
        </p:nvSpPr>
        <p:spPr>
          <a:xfrm xmlns:a="http://schemas.openxmlformats.org/drawingml/2006/main">
            <a:off x="5276850" y="2686050"/>
            <a:ext cx="2514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181424"/>
                </a:solidFill>
              </a:defRPr>
            </a:pPr>
            <a:r>
              <a:rPr sz="1050" b="0">
                <a:solidFill>
                  <a:srgbClr val="181424"/>
                </a:solidFill>
              </a:rPr>
              <a:t>Capture + cross-conversation intelligence + action</a:t>
            </a:r>
          </a:p>
        </p:txBody>
      </p:sp>
      <p:sp>
        <p:nvSpPr>
          <p:cNvPr id="18" name="">
            <a:extLst xmlns:a="http://schemas.openxmlformats.org/drawingml/2006/main">
              <a:ext uri="{FF2B5EF4-FFF2-40B4-BE49-F238E27FC236}">
                <a16:creationId xmlns:a16="http://schemas.microsoft.com/office/drawing/2014/main" id="{59B8BA4C-8577-488B-983F-4A27151A6288}"/>
              </a:ext>
            </a:extLst>
          </p:cNvPr>
          <p:cNvSpPr>
            <a:spLocks xmlns:a="http://schemas.openxmlformats.org/drawingml/2006/main" noGrp="1"/>
          </p:cNvSpPr>
          <p:nvPr/>
        </p:nvSpPr>
        <p:spPr>
          <a:xfrm xmlns:a="http://schemas.openxmlformats.org/drawingml/2006/main">
            <a:off x="7924800" y="2552700"/>
            <a:ext cx="3714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DD7E5"/>
            </a:solidFill>
            <a:prstDash val="solid"/>
          </a:ln>
        </p:spPr>
      </p:sp>
      <p:sp>
        <p:nvSpPr>
          <p:cNvPr id="19" name="">
            <a:extLst xmlns:a="http://schemas.openxmlformats.org/drawingml/2006/main">
              <a:ext uri="{FF2B5EF4-FFF2-40B4-BE49-F238E27FC236}">
                <a16:creationId xmlns:a16="http://schemas.microsoft.com/office/drawing/2014/main" id="{4A7C8680-4DAB-4CFE-96E7-17B4FB8BB605}"/>
              </a:ext>
            </a:extLst>
          </p:cNvPr>
          <p:cNvSpPr>
            <a:spLocks xmlns:a="http://schemas.openxmlformats.org/drawingml/2006/main" noGrp="1"/>
          </p:cNvSpPr>
          <p:nvPr/>
        </p:nvSpPr>
        <p:spPr>
          <a:xfrm xmlns:a="http://schemas.openxmlformats.org/drawingml/2006/main">
            <a:off x="8058150" y="2686050"/>
            <a:ext cx="3448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6F43E7"/>
                </a:solidFill>
              </a:defRPr>
            </a:pPr>
            <a:r>
              <a:rPr sz="1050" b="1">
                <a:solidFill>
                  <a:srgbClr val="6F43E7"/>
                </a:solidFill>
              </a:rPr>
              <a:t>General AI-native platform; caller-bound authority; Persian-first wedge</a:t>
            </a:r>
          </a:p>
        </p:txBody>
      </p:sp>
      <p:sp>
        <p:nvSpPr>
          <p:cNvPr id="20" name="">
            <a:extLst xmlns:a="http://schemas.openxmlformats.org/drawingml/2006/main">
              <a:ext uri="{FF2B5EF4-FFF2-40B4-BE49-F238E27FC236}">
                <a16:creationId xmlns:a16="http://schemas.microsoft.com/office/drawing/2014/main" id="{7A0E8650-F589-436D-9E89-255EC41C2BE5}"/>
              </a:ext>
            </a:extLst>
          </p:cNvPr>
          <p:cNvSpPr>
            <a:spLocks xmlns:a="http://schemas.openxmlformats.org/drawingml/2006/main" noGrp="1"/>
          </p:cNvSpPr>
          <p:nvPr/>
        </p:nvSpPr>
        <p:spPr>
          <a:xfrm xmlns:a="http://schemas.openxmlformats.org/drawingml/2006/main">
            <a:off x="552450" y="3600450"/>
            <a:ext cx="1809750" cy="990600"/>
          </a:xfrm>
          <a:prstGeom xmlns:a="http://schemas.openxmlformats.org/drawingml/2006/main" prst="rect">
            <a:avLst/>
          </a:prstGeom>
          <a:solidFill xmlns:a="http://schemas.openxmlformats.org/drawingml/2006/main">
            <a:srgbClr val="F4F1F8"/>
          </a:solidFill>
          <a:ln xmlns:a="http://schemas.openxmlformats.org/drawingml/2006/main" w="9525">
            <a:solidFill>
              <a:srgbClr val="DDD7E5"/>
            </a:solidFill>
            <a:prstDash val="solid"/>
          </a:ln>
        </p:spPr>
      </p:sp>
      <p:sp>
        <p:nvSpPr>
          <p:cNvPr id="21" name="">
            <a:extLst xmlns:a="http://schemas.openxmlformats.org/drawingml/2006/main">
              <a:ext uri="{FF2B5EF4-FFF2-40B4-BE49-F238E27FC236}">
                <a16:creationId xmlns:a16="http://schemas.microsoft.com/office/drawing/2014/main" id="{A94A7BA3-F710-4E85-9CB6-D2AFBE42A800}"/>
              </a:ext>
            </a:extLst>
          </p:cNvPr>
          <p:cNvSpPr>
            <a:spLocks xmlns:a="http://schemas.openxmlformats.org/drawingml/2006/main" noGrp="1"/>
          </p:cNvSpPr>
          <p:nvPr/>
        </p:nvSpPr>
        <p:spPr>
          <a:xfrm xmlns:a="http://schemas.openxmlformats.org/drawingml/2006/main">
            <a:off x="685800" y="3733800"/>
            <a:ext cx="154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81424"/>
                </a:solidFill>
              </a:defRPr>
            </a:pPr>
            <a:r>
              <a:rPr sz="1200" b="1">
                <a:solidFill>
                  <a:srgbClr val="181424"/>
                </a:solidFill>
              </a:rPr>
              <a:t>OTTER.AI</a:t>
            </a:r>
          </a:p>
        </p:txBody>
      </p:sp>
      <p:sp>
        <p:nvSpPr>
          <p:cNvPr id="22" name="">
            <a:extLst xmlns:a="http://schemas.openxmlformats.org/drawingml/2006/main">
              <a:ext uri="{FF2B5EF4-FFF2-40B4-BE49-F238E27FC236}">
                <a16:creationId xmlns:a16="http://schemas.microsoft.com/office/drawing/2014/main" id="{673B71A0-3BC1-4305-8AEA-C49A10CE43E5}"/>
              </a:ext>
            </a:extLst>
          </p:cNvPr>
          <p:cNvSpPr>
            <a:spLocks xmlns:a="http://schemas.openxmlformats.org/drawingml/2006/main" noGrp="1"/>
          </p:cNvSpPr>
          <p:nvPr/>
        </p:nvSpPr>
        <p:spPr>
          <a:xfrm xmlns:a="http://schemas.openxmlformats.org/drawingml/2006/main">
            <a:off x="2362200" y="3600450"/>
            <a:ext cx="2781300" cy="990600"/>
          </a:xfrm>
          <a:prstGeom xmlns:a="http://schemas.openxmlformats.org/drawingml/2006/main" prst="rect">
            <a:avLst/>
          </a:prstGeom>
          <a:solidFill xmlns:a="http://schemas.openxmlformats.org/drawingml/2006/main">
            <a:srgbClr val="F4F1F8"/>
          </a:solidFill>
          <a:ln xmlns:a="http://schemas.openxmlformats.org/drawingml/2006/main" w="9525">
            <a:solidFill>
              <a:srgbClr val="DDD7E5"/>
            </a:solidFill>
            <a:prstDash val="solid"/>
          </a:ln>
        </p:spPr>
      </p:sp>
      <p:sp>
        <p:nvSpPr>
          <p:cNvPr id="23" name="">
            <a:extLst xmlns:a="http://schemas.openxmlformats.org/drawingml/2006/main">
              <a:ext uri="{FF2B5EF4-FFF2-40B4-BE49-F238E27FC236}">
                <a16:creationId xmlns:a16="http://schemas.microsoft.com/office/drawing/2014/main" id="{4997A9F5-0C2F-4A4D-BF94-CADA39B81965}"/>
              </a:ext>
            </a:extLst>
          </p:cNvPr>
          <p:cNvSpPr>
            <a:spLocks xmlns:a="http://schemas.openxmlformats.org/drawingml/2006/main" noGrp="1"/>
          </p:cNvSpPr>
          <p:nvPr/>
        </p:nvSpPr>
        <p:spPr>
          <a:xfrm xmlns:a="http://schemas.openxmlformats.org/drawingml/2006/main">
            <a:off x="2495550" y="3733800"/>
            <a:ext cx="2514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181424"/>
                </a:solidFill>
              </a:defRPr>
            </a:pPr>
            <a:r>
              <a:rPr sz="1050" b="0">
                <a:solidFill>
                  <a:srgbClr val="181424"/>
                </a:solidFill>
              </a:rPr>
              <a:t>General meeting capture, summaries, AI chat</a:t>
            </a:r>
          </a:p>
        </p:txBody>
      </p:sp>
      <p:sp>
        <p:nvSpPr>
          <p:cNvPr id="24" name="">
            <a:extLst xmlns:a="http://schemas.openxmlformats.org/drawingml/2006/main">
              <a:ext uri="{FF2B5EF4-FFF2-40B4-BE49-F238E27FC236}">
                <a16:creationId xmlns:a16="http://schemas.microsoft.com/office/drawing/2014/main" id="{E608206E-4A6B-4B24-A145-9A39F8D4F8D8}"/>
              </a:ext>
            </a:extLst>
          </p:cNvPr>
          <p:cNvSpPr>
            <a:spLocks xmlns:a="http://schemas.openxmlformats.org/drawingml/2006/main" noGrp="1"/>
          </p:cNvSpPr>
          <p:nvPr/>
        </p:nvSpPr>
        <p:spPr>
          <a:xfrm xmlns:a="http://schemas.openxmlformats.org/drawingml/2006/main">
            <a:off x="5143500" y="3600450"/>
            <a:ext cx="2781300" cy="990600"/>
          </a:xfrm>
          <a:prstGeom xmlns:a="http://schemas.openxmlformats.org/drawingml/2006/main" prst="rect">
            <a:avLst/>
          </a:prstGeom>
          <a:solidFill xmlns:a="http://schemas.openxmlformats.org/drawingml/2006/main">
            <a:srgbClr val="F4F1F8"/>
          </a:solidFill>
          <a:ln xmlns:a="http://schemas.openxmlformats.org/drawingml/2006/main" w="9525">
            <a:solidFill>
              <a:srgbClr val="DDD7E5"/>
            </a:solidFill>
            <a:prstDash val="solid"/>
          </a:ln>
        </p:spPr>
      </p:sp>
      <p:sp>
        <p:nvSpPr>
          <p:cNvPr id="25" name="">
            <a:extLst xmlns:a="http://schemas.openxmlformats.org/drawingml/2006/main">
              <a:ext uri="{FF2B5EF4-FFF2-40B4-BE49-F238E27FC236}">
                <a16:creationId xmlns:a16="http://schemas.microsoft.com/office/drawing/2014/main" id="{E8E18CE4-763C-4751-823C-8E8D23C42F78}"/>
              </a:ext>
            </a:extLst>
          </p:cNvPr>
          <p:cNvSpPr>
            <a:spLocks xmlns:a="http://schemas.openxmlformats.org/drawingml/2006/main" noGrp="1"/>
          </p:cNvSpPr>
          <p:nvPr/>
        </p:nvSpPr>
        <p:spPr>
          <a:xfrm xmlns:a="http://schemas.openxmlformats.org/drawingml/2006/main">
            <a:off x="5276850" y="3733800"/>
            <a:ext cx="2514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181424"/>
                </a:solidFill>
              </a:defRPr>
            </a:pPr>
            <a:r>
              <a:rPr sz="1050" b="0">
                <a:solidFill>
                  <a:srgbClr val="181424"/>
                </a:solidFill>
              </a:rPr>
              <a:t>Meeting knowledge + live transcription + assistant Q&amp;A</a:t>
            </a:r>
          </a:p>
        </p:txBody>
      </p:sp>
      <p:sp>
        <p:nvSpPr>
          <p:cNvPr id="26" name="">
            <a:extLst xmlns:a="http://schemas.openxmlformats.org/drawingml/2006/main">
              <a:ext uri="{FF2B5EF4-FFF2-40B4-BE49-F238E27FC236}">
                <a16:creationId xmlns:a16="http://schemas.microsoft.com/office/drawing/2014/main" id="{D95F7139-CA54-4C5D-B18A-45A91547B2C0}"/>
              </a:ext>
            </a:extLst>
          </p:cNvPr>
          <p:cNvSpPr>
            <a:spLocks xmlns:a="http://schemas.openxmlformats.org/drawingml/2006/main" noGrp="1"/>
          </p:cNvSpPr>
          <p:nvPr/>
        </p:nvSpPr>
        <p:spPr>
          <a:xfrm xmlns:a="http://schemas.openxmlformats.org/drawingml/2006/main">
            <a:off x="7924800" y="3600450"/>
            <a:ext cx="3714750" cy="990600"/>
          </a:xfrm>
          <a:prstGeom xmlns:a="http://schemas.openxmlformats.org/drawingml/2006/main" prst="rect">
            <a:avLst/>
          </a:prstGeom>
          <a:solidFill xmlns:a="http://schemas.openxmlformats.org/drawingml/2006/main">
            <a:srgbClr val="F4F1F8"/>
          </a:solidFill>
          <a:ln xmlns:a="http://schemas.openxmlformats.org/drawingml/2006/main" w="9525">
            <a:solidFill>
              <a:srgbClr val="DDD7E5"/>
            </a:solidFill>
            <a:prstDash val="solid"/>
          </a:ln>
        </p:spPr>
      </p:sp>
      <p:sp>
        <p:nvSpPr>
          <p:cNvPr id="27" name="">
            <a:extLst xmlns:a="http://schemas.openxmlformats.org/drawingml/2006/main">
              <a:ext uri="{FF2B5EF4-FFF2-40B4-BE49-F238E27FC236}">
                <a16:creationId xmlns:a16="http://schemas.microsoft.com/office/drawing/2014/main" id="{0B213127-AEE8-4E26-9CED-DE8B368AAE60}"/>
              </a:ext>
            </a:extLst>
          </p:cNvPr>
          <p:cNvSpPr>
            <a:spLocks xmlns:a="http://schemas.openxmlformats.org/drawingml/2006/main" noGrp="1"/>
          </p:cNvSpPr>
          <p:nvPr/>
        </p:nvSpPr>
        <p:spPr>
          <a:xfrm xmlns:a="http://schemas.openxmlformats.org/drawingml/2006/main">
            <a:off x="8058150" y="3733800"/>
            <a:ext cx="3448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6F43E7"/>
                </a:solidFill>
              </a:defRPr>
            </a:pPr>
            <a:r>
              <a:rPr sz="1050" b="1">
                <a:solidFill>
                  <a:srgbClr val="6F43E7"/>
                </a:solidFill>
              </a:rPr>
              <a:t>Official May 2026 language list omits Persian; NeurAI is Persian-first end to end</a:t>
            </a:r>
          </a:p>
        </p:txBody>
      </p:sp>
      <p:sp>
        <p:nvSpPr>
          <p:cNvPr id="28" name="">
            <a:extLst xmlns:a="http://schemas.openxmlformats.org/drawingml/2006/main">
              <a:ext uri="{FF2B5EF4-FFF2-40B4-BE49-F238E27FC236}">
                <a16:creationId xmlns:a16="http://schemas.microsoft.com/office/drawing/2014/main" id="{E0C1C1B1-600C-4757-A4B7-CC7235E66BEA}"/>
              </a:ext>
            </a:extLst>
          </p:cNvPr>
          <p:cNvSpPr>
            <a:spLocks xmlns:a="http://schemas.openxmlformats.org/drawingml/2006/main" noGrp="1"/>
          </p:cNvSpPr>
          <p:nvPr/>
        </p:nvSpPr>
        <p:spPr>
          <a:xfrm xmlns:a="http://schemas.openxmlformats.org/drawingml/2006/main">
            <a:off x="552450" y="4648200"/>
            <a:ext cx="1809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DD7E5"/>
            </a:solidFill>
            <a:prstDash val="solid"/>
          </a:ln>
        </p:spPr>
      </p:sp>
      <p:sp>
        <p:nvSpPr>
          <p:cNvPr id="29" name="">
            <a:extLst xmlns:a="http://schemas.openxmlformats.org/drawingml/2006/main">
              <a:ext uri="{FF2B5EF4-FFF2-40B4-BE49-F238E27FC236}">
                <a16:creationId xmlns:a16="http://schemas.microsoft.com/office/drawing/2014/main" id="{F445AE0D-6B17-4014-8333-00F98B447A8C}"/>
              </a:ext>
            </a:extLst>
          </p:cNvPr>
          <p:cNvSpPr>
            <a:spLocks xmlns:a="http://schemas.openxmlformats.org/drawingml/2006/main" noGrp="1"/>
          </p:cNvSpPr>
          <p:nvPr/>
        </p:nvSpPr>
        <p:spPr>
          <a:xfrm xmlns:a="http://schemas.openxmlformats.org/drawingml/2006/main">
            <a:off x="685800" y="4781550"/>
            <a:ext cx="154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81424"/>
                </a:solidFill>
              </a:defRPr>
            </a:pPr>
            <a:r>
              <a:rPr sz="1200" b="1">
                <a:solidFill>
                  <a:srgbClr val="181424"/>
                </a:solidFill>
              </a:rPr>
              <a:t>FIREFLIES.AI</a:t>
            </a:r>
          </a:p>
        </p:txBody>
      </p:sp>
      <p:sp>
        <p:nvSpPr>
          <p:cNvPr id="30" name="">
            <a:extLst xmlns:a="http://schemas.openxmlformats.org/drawingml/2006/main">
              <a:ext uri="{FF2B5EF4-FFF2-40B4-BE49-F238E27FC236}">
                <a16:creationId xmlns:a16="http://schemas.microsoft.com/office/drawing/2014/main" id="{EF476041-09D5-4229-BD97-4F0A11B90BE0}"/>
              </a:ext>
            </a:extLst>
          </p:cNvPr>
          <p:cNvSpPr>
            <a:spLocks xmlns:a="http://schemas.openxmlformats.org/drawingml/2006/main" noGrp="1"/>
          </p:cNvSpPr>
          <p:nvPr/>
        </p:nvSpPr>
        <p:spPr>
          <a:xfrm xmlns:a="http://schemas.openxmlformats.org/drawingml/2006/main">
            <a:off x="2362200" y="4648200"/>
            <a:ext cx="27813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DD7E5"/>
            </a:solidFill>
            <a:prstDash val="solid"/>
          </a:ln>
        </p:spPr>
      </p:sp>
      <p:sp>
        <p:nvSpPr>
          <p:cNvPr id="31" name="">
            <a:extLst xmlns:a="http://schemas.openxmlformats.org/drawingml/2006/main">
              <a:ext uri="{FF2B5EF4-FFF2-40B4-BE49-F238E27FC236}">
                <a16:creationId xmlns:a16="http://schemas.microsoft.com/office/drawing/2014/main" id="{938A5A2B-A324-40DB-A986-D9027D28FC29}"/>
              </a:ext>
            </a:extLst>
          </p:cNvPr>
          <p:cNvSpPr>
            <a:spLocks xmlns:a="http://schemas.openxmlformats.org/drawingml/2006/main" noGrp="1"/>
          </p:cNvSpPr>
          <p:nvPr/>
        </p:nvSpPr>
        <p:spPr>
          <a:xfrm xmlns:a="http://schemas.openxmlformats.org/drawingml/2006/main">
            <a:off x="2495550" y="4781550"/>
            <a:ext cx="2514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181424"/>
                </a:solidFill>
              </a:defRPr>
            </a:pPr>
            <a:r>
              <a:rPr sz="1050" b="0">
                <a:solidFill>
                  <a:srgbClr val="181424"/>
                </a:solidFill>
              </a:rPr>
              <a:t>Meeting automation, AskFred, skills, integrations</a:t>
            </a:r>
          </a:p>
        </p:txBody>
      </p:sp>
      <p:sp>
        <p:nvSpPr>
          <p:cNvPr id="32" name="">
            <a:extLst xmlns:a="http://schemas.openxmlformats.org/drawingml/2006/main">
              <a:ext uri="{FF2B5EF4-FFF2-40B4-BE49-F238E27FC236}">
                <a16:creationId xmlns:a16="http://schemas.microsoft.com/office/drawing/2014/main" id="{B171B420-AEA9-4B07-9B41-F24F12B7F4BF}"/>
              </a:ext>
            </a:extLst>
          </p:cNvPr>
          <p:cNvSpPr>
            <a:spLocks xmlns:a="http://schemas.openxmlformats.org/drawingml/2006/main" noGrp="1"/>
          </p:cNvSpPr>
          <p:nvPr/>
        </p:nvSpPr>
        <p:spPr>
          <a:xfrm xmlns:a="http://schemas.openxmlformats.org/drawingml/2006/main">
            <a:off x="5143500" y="4648200"/>
            <a:ext cx="27813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DD7E5"/>
            </a:solidFill>
            <a:prstDash val="solid"/>
          </a:ln>
        </p:spPr>
      </p:sp>
      <p:sp>
        <p:nvSpPr>
          <p:cNvPr id="33" name="">
            <a:extLst xmlns:a="http://schemas.openxmlformats.org/drawingml/2006/main">
              <a:ext uri="{FF2B5EF4-FFF2-40B4-BE49-F238E27FC236}">
                <a16:creationId xmlns:a16="http://schemas.microsoft.com/office/drawing/2014/main" id="{A1FB805E-0B9D-4685-91CE-11652F3CD35F}"/>
              </a:ext>
            </a:extLst>
          </p:cNvPr>
          <p:cNvSpPr>
            <a:spLocks xmlns:a="http://schemas.openxmlformats.org/drawingml/2006/main" noGrp="1"/>
          </p:cNvSpPr>
          <p:nvPr/>
        </p:nvSpPr>
        <p:spPr>
          <a:xfrm xmlns:a="http://schemas.openxmlformats.org/drawingml/2006/main">
            <a:off x="5276850" y="4781550"/>
            <a:ext cx="2514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181424"/>
                </a:solidFill>
              </a:defRPr>
            </a:pPr>
            <a:r>
              <a:rPr sz="1050" b="0">
                <a:solidFill>
                  <a:srgbClr val="181424"/>
                </a:solidFill>
              </a:rPr>
              <a:t>Cross-meeting Q&amp;A + custom insight + workflows</a:t>
            </a:r>
          </a:p>
        </p:txBody>
      </p:sp>
      <p:sp>
        <p:nvSpPr>
          <p:cNvPr id="34" name="">
            <a:extLst xmlns:a="http://schemas.openxmlformats.org/drawingml/2006/main">
              <a:ext uri="{FF2B5EF4-FFF2-40B4-BE49-F238E27FC236}">
                <a16:creationId xmlns:a16="http://schemas.microsoft.com/office/drawing/2014/main" id="{C10D5B29-1F4F-4A88-8950-DCA7863F371B}"/>
              </a:ext>
            </a:extLst>
          </p:cNvPr>
          <p:cNvSpPr>
            <a:spLocks xmlns:a="http://schemas.openxmlformats.org/drawingml/2006/main" noGrp="1"/>
          </p:cNvSpPr>
          <p:nvPr/>
        </p:nvSpPr>
        <p:spPr>
          <a:xfrm xmlns:a="http://schemas.openxmlformats.org/drawingml/2006/main">
            <a:off x="7924800" y="4648200"/>
            <a:ext cx="3714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DD7E5"/>
            </a:solidFill>
            <a:prstDash val="solid"/>
          </a:ln>
        </p:spPr>
      </p:sp>
      <p:sp>
        <p:nvSpPr>
          <p:cNvPr id="35" name="">
            <a:extLst xmlns:a="http://schemas.openxmlformats.org/drawingml/2006/main">
              <a:ext uri="{FF2B5EF4-FFF2-40B4-BE49-F238E27FC236}">
                <a16:creationId xmlns:a16="http://schemas.microsoft.com/office/drawing/2014/main" id="{2834A46C-81BB-4F41-8EEA-294E2713BF24}"/>
              </a:ext>
            </a:extLst>
          </p:cNvPr>
          <p:cNvSpPr>
            <a:spLocks xmlns:a="http://schemas.openxmlformats.org/drawingml/2006/main" noGrp="1"/>
          </p:cNvSpPr>
          <p:nvPr/>
        </p:nvSpPr>
        <p:spPr>
          <a:xfrm xmlns:a="http://schemas.openxmlformats.org/drawingml/2006/main">
            <a:off x="8058150" y="4781550"/>
            <a:ext cx="3448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6F43E7"/>
                </a:solidFill>
              </a:defRPr>
            </a:pPr>
            <a:r>
              <a:rPr sz="1050" b="1">
                <a:solidFill>
                  <a:srgbClr val="6F43E7"/>
                </a:solidFill>
              </a:rPr>
              <a:t>Identity/RLS/grants flow into product actions; visible Watch → Assist → Act</a:t>
            </a:r>
          </a:p>
        </p:txBody>
      </p:sp>
      <p:sp>
        <p:nvSpPr>
          <p:cNvPr id="36" name="">
            <a:extLst xmlns:a="http://schemas.openxmlformats.org/drawingml/2006/main">
              <a:ext uri="{FF2B5EF4-FFF2-40B4-BE49-F238E27FC236}">
                <a16:creationId xmlns:a16="http://schemas.microsoft.com/office/drawing/2014/main" id="{6D651DD2-6AE9-46C3-8F15-9D5977E2FF6A}"/>
              </a:ext>
            </a:extLst>
          </p:cNvPr>
          <p:cNvSpPr>
            <a:spLocks xmlns:a="http://schemas.openxmlformats.org/drawingml/2006/main" noGrp="1"/>
          </p:cNvSpPr>
          <p:nvPr/>
        </p:nvSpPr>
        <p:spPr>
          <a:xfrm xmlns:a="http://schemas.openxmlformats.org/drawingml/2006/main">
            <a:off x="552450" y="5848350"/>
            <a:ext cx="11087100" cy="438150"/>
          </a:xfrm>
          <a:prstGeom xmlns:a="http://schemas.openxmlformats.org/drawingml/2006/main" prst="roundRect">
            <a:avLst>
              <a:gd name="adj" fmla="val 26087"/>
            </a:avLst>
          </a:prstGeom>
          <a:solidFill xmlns:a="http://schemas.openxmlformats.org/drawingml/2006/main">
            <a:srgbClr val="EAF9FF"/>
          </a:solidFill>
          <a:ln xmlns:a="http://schemas.openxmlformats.org/drawingml/2006/main" w="9525">
            <a:solidFill>
              <a:srgbClr val="BEEFFF"/>
            </a:solidFill>
            <a:prstDash val="solid"/>
          </a:ln>
        </p:spPr>
      </p:sp>
      <p:sp>
        <p:nvSpPr>
          <p:cNvPr id="37" name="">
            <a:extLst xmlns:a="http://schemas.openxmlformats.org/drawingml/2006/main">
              <a:ext uri="{FF2B5EF4-FFF2-40B4-BE49-F238E27FC236}">
                <a16:creationId xmlns:a16="http://schemas.microsoft.com/office/drawing/2014/main" id="{7C1852B6-F8FA-4697-92C2-88232847BD7D}"/>
              </a:ext>
            </a:extLst>
          </p:cNvPr>
          <p:cNvSpPr>
            <a:spLocks xmlns:a="http://schemas.openxmlformats.org/drawingml/2006/main" noGrp="1"/>
          </p:cNvSpPr>
          <p:nvPr/>
        </p:nvSpPr>
        <p:spPr>
          <a:xfrm xmlns:a="http://schemas.openxmlformats.org/drawingml/2006/main">
            <a:off x="762000" y="59245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81424"/>
                </a:solidFill>
              </a:defRPr>
            </a:pPr>
            <a:r>
              <a:rPr sz="1350" b="1">
                <a:solidFill>
                  <a:srgbClr val="181424"/>
                </a:solidFill>
              </a:rPr>
              <a:t>Win the underserved Persian-first trust surface—then compound Echo’s memory into more apps.</a:t>
            </a:r>
          </a:p>
        </p:txBody>
      </p:sp>
      <p:sp>
        <p:nvSpPr>
          <p:cNvPr id="38" name="">
            <a:extLst xmlns:a="http://schemas.openxmlformats.org/drawingml/2006/main">
              <a:ext uri="{FF2B5EF4-FFF2-40B4-BE49-F238E27FC236}">
                <a16:creationId xmlns:a16="http://schemas.microsoft.com/office/drawing/2014/main" id="{41F4C062-0DE4-407A-8D19-1EDE8E604FA7}"/>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DD7E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CB02F18-8453-4B8F-A8AF-4D04B6CB4C11}"/>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43E7"/>
                </a:solidFill>
              </a:defRPr>
            </a:pPr>
            <a:r>
              <a:rPr sz="750" b="1">
                <a:solidFill>
                  <a:srgbClr val="6F43E7"/>
                </a:solidFill>
              </a:rPr>
              <a:t>NEURAI PLATFORM</a:t>
            </a:r>
          </a:p>
        </p:txBody>
      </p:sp>
      <p:sp>
        <p:nvSpPr>
          <p:cNvPr id="40" name="">
            <a:extLst xmlns:a="http://schemas.openxmlformats.org/drawingml/2006/main">
              <a:ext uri="{FF2B5EF4-FFF2-40B4-BE49-F238E27FC236}">
                <a16:creationId xmlns:a16="http://schemas.microsoft.com/office/drawing/2014/main" id="{7F65C03A-A0DC-4173-9207-824232E0B074}"/>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716A7C"/>
                </a:solidFill>
              </a:defRPr>
            </a:pPr>
            <a:r>
              <a:rPr sz="750" b="1">
                <a:solidFill>
                  <a:srgbClr val="716A7C"/>
                </a:solidFill>
              </a:rPr>
              <a:t>09</a:t>
            </a:r>
          </a:p>
        </p:txBody>
      </p:sp>
    </p:spTree>
    <p:extLst>
      <p:ext uri="{BB962C8B-B14F-4D97-AF65-F5344CB8AC3E}">
        <p14:creationId xmlns:p14="http://schemas.microsoft.com/office/powerpoint/2010/main" val="1505515143"/>
      </p:ext>
    </p:extLst>
  </p:cSld>
</p:sld>
</file>

<file path=ppt/slides/slide10.xml><?xml version="1.0" encoding="utf-8"?>
<p:sld xmlns:p="http://schemas.openxmlformats.org/presentationml/2006/main">
  <p:cSld>
    <p:bg>
      <p:bgPr>
        <a:solidFill xmlns:a="http://schemas.openxmlformats.org/drawingml/2006/main">
          <a:srgbClr val="0C092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EAD25DB-7FF0-4931-AF41-5E53D9269833}"/>
              </a:ext>
            </a:extLst>
          </p:cNvPr>
          <p:cNvSpPr>
            <a:spLocks xmlns:a="http://schemas.openxmlformats.org/drawingml/2006/main" noGrp="1"/>
          </p:cNvSpPr>
          <p:nvPr/>
        </p:nvSpPr>
        <p:spPr>
          <a:xfrm xmlns:a="http://schemas.openxmlformats.org/drawingml/2006/main">
            <a:off x="609600" y="361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B6DFF"/>
                </a:solidFill>
              </a:defRPr>
            </a:pPr>
            <a:r>
              <a:rPr sz="975" b="1">
                <a:solidFill>
                  <a:srgbClr val="9B6DFF"/>
                </a:solidFill>
              </a:rPr>
              <a:t>THE EXPANSION THESIS</a:t>
            </a:r>
          </a:p>
        </p:txBody>
      </p:sp>
      <p:sp>
        <p:nvSpPr>
          <p:cNvPr id="2" name="">
            <a:extLst xmlns:a="http://schemas.openxmlformats.org/drawingml/2006/main">
              <a:ext uri="{FF2B5EF4-FFF2-40B4-BE49-F238E27FC236}">
                <a16:creationId xmlns:a16="http://schemas.microsoft.com/office/drawing/2014/main" id="{4412A5F9-420E-419C-9F6C-F37043A806B3}"/>
              </a:ext>
            </a:extLst>
          </p:cNvPr>
          <p:cNvSpPr>
            <a:spLocks xmlns:a="http://schemas.openxmlformats.org/drawingml/2006/main" noGrp="1"/>
          </p:cNvSpPr>
          <p:nvPr/>
        </p:nvSpPr>
        <p:spPr>
          <a:xfrm xmlns:a="http://schemas.openxmlformats.org/drawingml/2006/main">
            <a:off x="609600" y="7239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defRPr>
            </a:pPr>
            <a:r>
              <a:rPr sz="2850" b="1">
                <a:solidFill>
                  <a:srgbClr val="FFFFFF"/>
                </a:solidFill>
              </a:rPr>
              <a:t>Echo is the beginning—not the boundary</a:t>
            </a:r>
          </a:p>
        </p:txBody>
      </p:sp>
      <p:sp>
        <p:nvSpPr>
          <p:cNvPr id="3" name="">
            <a:extLst xmlns:a="http://schemas.openxmlformats.org/drawingml/2006/main">
              <a:ext uri="{FF2B5EF4-FFF2-40B4-BE49-F238E27FC236}">
                <a16:creationId xmlns:a16="http://schemas.microsoft.com/office/drawing/2014/main" id="{16396D3C-7F19-4950-A9C3-087CC9833068}"/>
              </a:ext>
            </a:extLst>
          </p:cNvPr>
          <p:cNvSpPr>
            <a:spLocks xmlns:a="http://schemas.openxmlformats.org/drawingml/2006/main" noGrp="1"/>
          </p:cNvSpPr>
          <p:nvPr/>
        </p:nvSpPr>
        <p:spPr>
          <a:xfrm xmlns:a="http://schemas.openxmlformats.org/drawingml/2006/main">
            <a:off x="609600" y="13811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2CAE8"/>
                </a:solidFill>
              </a:defRPr>
            </a:pPr>
            <a:r>
              <a:rPr sz="1350" b="0">
                <a:solidFill>
                  <a:srgbClr val="D2CAE8"/>
                </a:solidFill>
              </a:rPr>
              <a:t>One governed memory substrate can power an entire AI-native platform.</a:t>
            </a:r>
          </a:p>
        </p:txBody>
      </p:sp>
      <p:sp>
        <p:nvSpPr>
          <p:cNvPr id="4" name="">
            <a:extLst xmlns:a="http://schemas.openxmlformats.org/drawingml/2006/main">
              <a:ext uri="{FF2B5EF4-FFF2-40B4-BE49-F238E27FC236}">
                <a16:creationId xmlns:a16="http://schemas.microsoft.com/office/drawing/2014/main" id="{F60492D9-5AA2-48B9-B78F-0D1F1ADCA24B}"/>
              </a:ext>
            </a:extLst>
          </p:cNvPr>
          <p:cNvSpPr>
            <a:spLocks xmlns:a="http://schemas.openxmlformats.org/drawingml/2006/main" noGrp="1"/>
          </p:cNvSpPr>
          <p:nvPr/>
        </p:nvSpPr>
        <p:spPr>
          <a:xfrm xmlns:a="http://schemas.openxmlformats.org/drawingml/2006/main">
            <a:off x="800100" y="2552700"/>
            <a:ext cx="1981200" cy="933450"/>
          </a:xfrm>
          <a:prstGeom xmlns:a="http://schemas.openxmlformats.org/drawingml/2006/main" prst="roundRect">
            <a:avLst>
              <a:gd name="adj" fmla="val 12245"/>
            </a:avLst>
          </a:prstGeom>
          <a:solidFill xmlns:a="http://schemas.openxmlformats.org/drawingml/2006/main">
            <a:srgbClr val="FF6F6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5F27339-CBDB-4631-9DCA-9465B335261F}"/>
              </a:ext>
            </a:extLst>
          </p:cNvPr>
          <p:cNvSpPr>
            <a:spLocks xmlns:a="http://schemas.openxmlformats.org/drawingml/2006/main" noGrp="1"/>
          </p:cNvSpPr>
          <p:nvPr/>
        </p:nvSpPr>
        <p:spPr>
          <a:xfrm xmlns:a="http://schemas.openxmlformats.org/drawingml/2006/main">
            <a:off x="914400" y="26479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ECHO</a:t>
            </a:r>
          </a:p>
        </p:txBody>
      </p:sp>
      <p:sp>
        <p:nvSpPr>
          <p:cNvPr id="6" name="">
            <a:extLst xmlns:a="http://schemas.openxmlformats.org/drawingml/2006/main">
              <a:ext uri="{FF2B5EF4-FFF2-40B4-BE49-F238E27FC236}">
                <a16:creationId xmlns:a16="http://schemas.microsoft.com/office/drawing/2014/main" id="{70F7FEB0-FB95-42B3-9A16-07CF432F3134}"/>
              </a:ext>
            </a:extLst>
          </p:cNvPr>
          <p:cNvSpPr>
            <a:spLocks xmlns:a="http://schemas.openxmlformats.org/drawingml/2006/main" noGrp="1"/>
          </p:cNvSpPr>
          <p:nvPr/>
        </p:nvSpPr>
        <p:spPr>
          <a:xfrm xmlns:a="http://schemas.openxmlformats.org/drawingml/2006/main">
            <a:off x="914400" y="2933700"/>
            <a:ext cx="1752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conversation truth</a:t>
            </a:r>
          </a:p>
        </p:txBody>
      </p:sp>
      <p:sp>
        <p:nvSpPr>
          <p:cNvPr id="7" name="">
            <a:extLst xmlns:a="http://schemas.openxmlformats.org/drawingml/2006/main">
              <a:ext uri="{FF2B5EF4-FFF2-40B4-BE49-F238E27FC236}">
                <a16:creationId xmlns:a16="http://schemas.microsoft.com/office/drawing/2014/main" id="{9596CFE1-144B-42A2-B3D8-224BD8502BDF}"/>
              </a:ext>
            </a:extLst>
          </p:cNvPr>
          <p:cNvSpPr>
            <a:spLocks xmlns:a="http://schemas.openxmlformats.org/drawingml/2006/main" noGrp="1"/>
          </p:cNvSpPr>
          <p:nvPr/>
        </p:nvSpPr>
        <p:spPr>
          <a:xfrm xmlns:a="http://schemas.openxmlformats.org/drawingml/2006/main">
            <a:off x="3333750" y="2552700"/>
            <a:ext cx="2190750" cy="933450"/>
          </a:xfrm>
          <a:prstGeom xmlns:a="http://schemas.openxmlformats.org/drawingml/2006/main" prst="roundRect">
            <a:avLst>
              <a:gd name="adj" fmla="val 12245"/>
            </a:avLst>
          </a:prstGeom>
          <a:solidFill xmlns:a="http://schemas.openxmlformats.org/drawingml/2006/main">
            <a:srgbClr val="6F43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8533EF-B0FA-4040-A2F0-3FE2BCC8364C}"/>
              </a:ext>
            </a:extLst>
          </p:cNvPr>
          <p:cNvSpPr>
            <a:spLocks xmlns:a="http://schemas.openxmlformats.org/drawingml/2006/main" noGrp="1"/>
          </p:cNvSpPr>
          <p:nvPr/>
        </p:nvSpPr>
        <p:spPr>
          <a:xfrm xmlns:a="http://schemas.openxmlformats.org/drawingml/2006/main">
            <a:off x="3448050" y="26479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SHARED AGENT</a:t>
            </a:r>
          </a:p>
        </p:txBody>
      </p:sp>
      <p:sp>
        <p:nvSpPr>
          <p:cNvPr id="9" name="">
            <a:extLst xmlns:a="http://schemas.openxmlformats.org/drawingml/2006/main">
              <a:ext uri="{FF2B5EF4-FFF2-40B4-BE49-F238E27FC236}">
                <a16:creationId xmlns:a16="http://schemas.microsoft.com/office/drawing/2014/main" id="{078A332A-4FF7-4DAD-A04C-5FC60DAE18A2}"/>
              </a:ext>
            </a:extLst>
          </p:cNvPr>
          <p:cNvSpPr>
            <a:spLocks xmlns:a="http://schemas.openxmlformats.org/drawingml/2006/main" noGrp="1"/>
          </p:cNvSpPr>
          <p:nvPr/>
        </p:nvSpPr>
        <p:spPr>
          <a:xfrm xmlns:a="http://schemas.openxmlformats.org/drawingml/2006/main">
            <a:off x="3448050" y="2933700"/>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cross-memory reasoning</a:t>
            </a:r>
          </a:p>
        </p:txBody>
      </p:sp>
      <p:sp>
        <p:nvSpPr>
          <p:cNvPr id="10" name="">
            <a:extLst xmlns:a="http://schemas.openxmlformats.org/drawingml/2006/main">
              <a:ext uri="{FF2B5EF4-FFF2-40B4-BE49-F238E27FC236}">
                <a16:creationId xmlns:a16="http://schemas.microsoft.com/office/drawing/2014/main" id="{C8E0D415-16C2-429F-8AF1-1A7297233D90}"/>
              </a:ext>
            </a:extLst>
          </p:cNvPr>
          <p:cNvSpPr>
            <a:spLocks xmlns:a="http://schemas.openxmlformats.org/drawingml/2006/main" noGrp="1"/>
          </p:cNvSpPr>
          <p:nvPr/>
        </p:nvSpPr>
        <p:spPr>
          <a:xfrm xmlns:a="http://schemas.openxmlformats.org/drawingml/2006/main">
            <a:off x="6076950" y="2552700"/>
            <a:ext cx="1981200" cy="933450"/>
          </a:xfrm>
          <a:prstGeom xmlns:a="http://schemas.openxmlformats.org/drawingml/2006/main" prst="roundRect">
            <a:avLst>
              <a:gd name="adj" fmla="val 12245"/>
            </a:avLst>
          </a:prstGeom>
          <a:solidFill xmlns:a="http://schemas.openxmlformats.org/drawingml/2006/main">
            <a:srgbClr val="63D8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31A7B3-EC28-4AC4-8429-948207862524}"/>
              </a:ext>
            </a:extLst>
          </p:cNvPr>
          <p:cNvSpPr>
            <a:spLocks xmlns:a="http://schemas.openxmlformats.org/drawingml/2006/main" noGrp="1"/>
          </p:cNvSpPr>
          <p:nvPr/>
        </p:nvSpPr>
        <p:spPr>
          <a:xfrm xmlns:a="http://schemas.openxmlformats.org/drawingml/2006/main">
            <a:off x="6191250" y="26479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0C0922"/>
                </a:solidFill>
              </a:defRPr>
            </a:pPr>
            <a:r>
              <a:rPr sz="1275" b="1">
                <a:solidFill>
                  <a:srgbClr val="0C0922"/>
                </a:solidFill>
              </a:rPr>
              <a:t>SIGNALS</a:t>
            </a:r>
          </a:p>
        </p:txBody>
      </p:sp>
      <p:sp>
        <p:nvSpPr>
          <p:cNvPr id="12" name="">
            <a:extLst xmlns:a="http://schemas.openxmlformats.org/drawingml/2006/main">
              <a:ext uri="{FF2B5EF4-FFF2-40B4-BE49-F238E27FC236}">
                <a16:creationId xmlns:a16="http://schemas.microsoft.com/office/drawing/2014/main" id="{9D597636-85B1-44F2-935A-1E51FEB35CBD}"/>
              </a:ext>
            </a:extLst>
          </p:cNvPr>
          <p:cNvSpPr>
            <a:spLocks xmlns:a="http://schemas.openxmlformats.org/drawingml/2006/main" noGrp="1"/>
          </p:cNvSpPr>
          <p:nvPr/>
        </p:nvSpPr>
        <p:spPr>
          <a:xfrm xmlns:a="http://schemas.openxmlformats.org/drawingml/2006/main">
            <a:off x="6191250" y="2933700"/>
            <a:ext cx="1752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716A7C"/>
                </a:solidFill>
              </a:defRPr>
            </a:pPr>
            <a:r>
              <a:rPr sz="938" b="0">
                <a:solidFill>
                  <a:srgbClr val="716A7C"/>
                </a:solidFill>
              </a:rPr>
              <a:t>timely follow-through</a:t>
            </a:r>
          </a:p>
        </p:txBody>
      </p:sp>
      <p:sp>
        <p:nvSpPr>
          <p:cNvPr id="13" name="">
            <a:extLst xmlns:a="http://schemas.openxmlformats.org/drawingml/2006/main">
              <a:ext uri="{FF2B5EF4-FFF2-40B4-BE49-F238E27FC236}">
                <a16:creationId xmlns:a16="http://schemas.microsoft.com/office/drawing/2014/main" id="{415695C6-34D2-4A1D-AC0C-692FA006573C}"/>
              </a:ext>
            </a:extLst>
          </p:cNvPr>
          <p:cNvSpPr>
            <a:spLocks xmlns:a="http://schemas.openxmlformats.org/drawingml/2006/main" noGrp="1"/>
          </p:cNvSpPr>
          <p:nvPr/>
        </p:nvSpPr>
        <p:spPr>
          <a:xfrm xmlns:a="http://schemas.openxmlformats.org/drawingml/2006/main">
            <a:off x="8610600" y="2552700"/>
            <a:ext cx="2647950" cy="933450"/>
          </a:xfrm>
          <a:prstGeom xmlns:a="http://schemas.openxmlformats.org/drawingml/2006/main" prst="roundRect">
            <a:avLst>
              <a:gd name="adj" fmla="val 12245"/>
            </a:avLst>
          </a:prstGeom>
          <a:solidFill xmlns:a="http://schemas.openxmlformats.org/drawingml/2006/main">
            <a:srgbClr val="2E9B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AF6CDB-0444-45A4-B619-A4A48F4D3003}"/>
              </a:ext>
            </a:extLst>
          </p:cNvPr>
          <p:cNvSpPr>
            <a:spLocks xmlns:a="http://schemas.openxmlformats.org/drawingml/2006/main" noGrp="1"/>
          </p:cNvSpPr>
          <p:nvPr/>
        </p:nvSpPr>
        <p:spPr>
          <a:xfrm xmlns:a="http://schemas.openxmlformats.org/drawingml/2006/main">
            <a:off x="8724900" y="264795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defRPr>
            </a:pPr>
            <a:r>
              <a:rPr sz="1275" b="1">
                <a:solidFill>
                  <a:srgbClr val="FFFFFF"/>
                </a:solidFill>
              </a:rPr>
              <a:t>MORE APPS</a:t>
            </a:r>
          </a:p>
        </p:txBody>
      </p:sp>
      <p:sp>
        <p:nvSpPr>
          <p:cNvPr id="15" name="">
            <a:extLst xmlns:a="http://schemas.openxmlformats.org/drawingml/2006/main">
              <a:ext uri="{FF2B5EF4-FFF2-40B4-BE49-F238E27FC236}">
                <a16:creationId xmlns:a16="http://schemas.microsoft.com/office/drawing/2014/main" id="{D5F230A5-0412-4224-917A-0610A66924D5}"/>
              </a:ext>
            </a:extLst>
          </p:cNvPr>
          <p:cNvSpPr>
            <a:spLocks xmlns:a="http://schemas.openxmlformats.org/drawingml/2006/main" noGrp="1"/>
          </p:cNvSpPr>
          <p:nvPr/>
        </p:nvSpPr>
        <p:spPr>
          <a:xfrm xmlns:a="http://schemas.openxmlformats.org/drawingml/2006/main">
            <a:off x="8724900" y="2933700"/>
            <a:ext cx="2419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0">
                <a:solidFill>
                  <a:srgbClr val="E4DFF1"/>
                </a:solidFill>
              </a:defRPr>
            </a:pPr>
            <a:r>
              <a:rPr sz="938" b="0">
                <a:solidFill>
                  <a:srgbClr val="E4DFF1"/>
                </a:solidFill>
              </a:rPr>
              <a:t>projects · knowledge · service</a:t>
            </a:r>
          </a:p>
        </p:txBody>
      </p:sp>
      <p:cxnSp>
        <p:nvCxnSpPr>
          <p:cNvPr id="42" name=""/>
          <p:cNvCxnSpPr>
            <a:stCxn xmlns:a="http://schemas.openxmlformats.org/drawingml/2006/main" id="4" idx="3"/>
            <a:endCxn xmlns:a="http://schemas.openxmlformats.org/drawingml/2006/main" id="7" idx="1"/>
          </p:cNvCxnSpPr>
          <p:nvPr/>
        </p:nvCxnSpPr>
        <p:spPr>
          <a:xfrm xmlns:a="http://schemas.openxmlformats.org/drawingml/2006/main">
            <a:off x="2781300" y="3019425"/>
            <a:ext cx="552450" cy="0"/>
          </a:xfrm>
          <a:prstGeom xmlns:a="http://schemas.openxmlformats.org/drawingml/2006/main" prst="straightConnector1">
            <a:avLst/>
          </a:prstGeom>
          <a:ln xmlns:a="http://schemas.openxmlformats.org/drawingml/2006/main" w="20955">
            <a:solidFill>
              <a:srgbClr val="75689C"/>
            </a:solidFill>
            <a:prstDash val="solid"/>
            <a:tailEnd type="arrow" w="med" len="med"/>
          </a:ln>
        </p:spPr>
      </p:cxnSp>
      <p:cxnSp>
        <p:nvCxnSpPr>
          <p:cNvPr id="43" name=""/>
          <p:cNvCxnSpPr>
            <a:stCxn xmlns:a="http://schemas.openxmlformats.org/drawingml/2006/main" id="7" idx="3"/>
            <a:endCxn xmlns:a="http://schemas.openxmlformats.org/drawingml/2006/main" id="10" idx="1"/>
          </p:cNvCxnSpPr>
          <p:nvPr/>
        </p:nvCxnSpPr>
        <p:spPr>
          <a:xfrm xmlns:a="http://schemas.openxmlformats.org/drawingml/2006/main">
            <a:off x="5524500" y="3019425"/>
            <a:ext cx="552450" cy="0"/>
          </a:xfrm>
          <a:prstGeom xmlns:a="http://schemas.openxmlformats.org/drawingml/2006/main" prst="straightConnector1">
            <a:avLst/>
          </a:prstGeom>
          <a:ln xmlns:a="http://schemas.openxmlformats.org/drawingml/2006/main" w="20955">
            <a:solidFill>
              <a:srgbClr val="75689C"/>
            </a:solidFill>
            <a:prstDash val="solid"/>
            <a:tailEnd type="arrow" w="med" len="med"/>
          </a:ln>
        </p:spPr>
      </p:cxnSp>
      <p:cxnSp>
        <p:nvCxnSpPr>
          <p:cNvPr id="44" name=""/>
          <p:cNvCxnSpPr>
            <a:stCxn xmlns:a="http://schemas.openxmlformats.org/drawingml/2006/main" id="10" idx="3"/>
            <a:endCxn xmlns:a="http://schemas.openxmlformats.org/drawingml/2006/main" id="13" idx="1"/>
          </p:cNvCxnSpPr>
          <p:nvPr/>
        </p:nvCxnSpPr>
        <p:spPr>
          <a:xfrm xmlns:a="http://schemas.openxmlformats.org/drawingml/2006/main">
            <a:off x="8058150" y="3019425"/>
            <a:ext cx="552450" cy="0"/>
          </a:xfrm>
          <a:prstGeom xmlns:a="http://schemas.openxmlformats.org/drawingml/2006/main" prst="straightConnector1">
            <a:avLst/>
          </a:prstGeom>
          <a:ln xmlns:a="http://schemas.openxmlformats.org/drawingml/2006/main" w="20955">
            <a:solidFill>
              <a:srgbClr val="75689C"/>
            </a:solidFill>
            <a:prstDash val="solid"/>
            <a:tailEnd type="arrow" w="med" len="med"/>
          </a:ln>
        </p:spPr>
      </p:cxnSp>
      <p:sp>
        <p:nvSpPr>
          <p:cNvPr id="19" name="">
            <a:extLst xmlns:a="http://schemas.openxmlformats.org/drawingml/2006/main">
              <a:ext uri="{FF2B5EF4-FFF2-40B4-BE49-F238E27FC236}">
                <a16:creationId xmlns:a16="http://schemas.microsoft.com/office/drawing/2014/main" id="{083377F0-1CDF-476C-A9C2-9BE548012982}"/>
              </a:ext>
            </a:extLst>
          </p:cNvPr>
          <p:cNvSpPr>
            <a:spLocks xmlns:a="http://schemas.openxmlformats.org/drawingml/2006/main" noGrp="1"/>
          </p:cNvSpPr>
          <p:nvPr/>
        </p:nvSpPr>
        <p:spPr>
          <a:xfrm xmlns:a="http://schemas.openxmlformats.org/drawingml/2006/main">
            <a:off x="800100" y="4095750"/>
            <a:ext cx="10458450" cy="704850"/>
          </a:xfrm>
          <a:prstGeom xmlns:a="http://schemas.openxmlformats.org/drawingml/2006/main" prst="roundRect">
            <a:avLst>
              <a:gd name="adj" fmla="val 16216"/>
            </a:avLst>
          </a:prstGeom>
          <a:solidFill xmlns:a="http://schemas.openxmlformats.org/drawingml/2006/main">
            <a:srgbClr val="201743"/>
          </a:solidFill>
          <a:ln xmlns:a="http://schemas.openxmlformats.org/drawingml/2006/main" w="9525">
            <a:solidFill>
              <a:srgbClr val="3C2E64"/>
            </a:solidFill>
            <a:prstDash val="solid"/>
          </a:ln>
        </p:spPr>
      </p:sp>
      <p:sp>
        <p:nvSpPr>
          <p:cNvPr id="20" name="">
            <a:extLst xmlns:a="http://schemas.openxmlformats.org/drawingml/2006/main">
              <a:ext uri="{FF2B5EF4-FFF2-40B4-BE49-F238E27FC236}">
                <a16:creationId xmlns:a16="http://schemas.microsoft.com/office/drawing/2014/main" id="{E3630DC0-8E49-43B5-9490-10DBB7AF0653}"/>
              </a:ext>
            </a:extLst>
          </p:cNvPr>
          <p:cNvSpPr>
            <a:spLocks xmlns:a="http://schemas.openxmlformats.org/drawingml/2006/main" noGrp="1"/>
          </p:cNvSpPr>
          <p:nvPr/>
        </p:nvSpPr>
        <p:spPr>
          <a:xfrm xmlns:a="http://schemas.openxmlformats.org/drawingml/2006/main">
            <a:off x="1047750" y="4248150"/>
            <a:ext cx="996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defRPr>
            </a:pPr>
            <a:r>
              <a:rPr sz="1425" b="1">
                <a:solidFill>
                  <a:srgbClr val="FFFFFF"/>
                </a:solidFill>
              </a:rPr>
              <a:t>New apps add a source of truth or a governed action surface—never a second identity, memory, or unbounded agent.</a:t>
            </a:r>
          </a:p>
        </p:txBody>
      </p:sp>
      <p:sp>
        <p:nvSpPr>
          <p:cNvPr id="21" name="">
            <a:extLst xmlns:a="http://schemas.openxmlformats.org/drawingml/2006/main">
              <a:ext uri="{FF2B5EF4-FFF2-40B4-BE49-F238E27FC236}">
                <a16:creationId xmlns:a16="http://schemas.microsoft.com/office/drawing/2014/main" id="{2FF8F579-3D6B-4D9C-A889-32833312393E}"/>
              </a:ext>
            </a:extLst>
          </p:cNvPr>
          <p:cNvSpPr>
            <a:spLocks xmlns:a="http://schemas.openxmlformats.org/drawingml/2006/main" noGrp="1"/>
          </p:cNvSpPr>
          <p:nvPr/>
        </p:nvSpPr>
        <p:spPr>
          <a:xfrm xmlns:a="http://schemas.openxmlformats.org/drawingml/2006/main">
            <a:off x="1371600" y="5181600"/>
            <a:ext cx="9448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a:solidFill>
                  <a:srgbClr val="FFFFFF"/>
                </a:solidFill>
              </a:defRPr>
            </a:pPr>
            <a:r>
              <a:rPr sz="2325" b="1">
                <a:solidFill>
                  <a:srgbClr val="FFFFFF"/>
                </a:solidFill>
              </a:rPr>
              <a:t>Capture what happened.  Explain what it means.</a:t>
            </a:r>
          </a:p>
          <a:p xmlns:a="http://schemas.openxmlformats.org/drawingml/2006/main">
            <a:pPr algn="ctr">
              <a:defRPr sz="2325" b="1">
                <a:solidFill>
                  <a:srgbClr val="FFFFFF"/>
                </a:solidFill>
              </a:defRPr>
            </a:pPr>
            <a:r>
              <a:rPr sz="2325" b="1">
                <a:solidFill>
                  <a:srgbClr val="FFFFFF"/>
                </a:solidFill>
              </a:rPr>
              <a:t>Act only with authority.  Learn across time.</a:t>
            </a:r>
          </a:p>
        </p:txBody>
      </p:sp>
      <p:sp>
        <p:nvSpPr>
          <p:cNvPr id="22" name="">
            <a:extLst xmlns:a="http://schemas.openxmlformats.org/drawingml/2006/main">
              <a:ext uri="{FF2B5EF4-FFF2-40B4-BE49-F238E27FC236}">
                <a16:creationId xmlns:a16="http://schemas.microsoft.com/office/drawing/2014/main" id="{C97E026B-16B8-4776-817A-906024C4C8E2}"/>
              </a:ext>
            </a:extLst>
          </p:cNvPr>
          <p:cNvSpPr>
            <a:spLocks xmlns:a="http://schemas.openxmlformats.org/drawingml/2006/main" noGrp="1"/>
          </p:cNvSpPr>
          <p:nvPr/>
        </p:nvSpPr>
        <p:spPr>
          <a:xfrm xmlns:a="http://schemas.openxmlformats.org/drawingml/2006/main">
            <a:off x="4267200" y="6000750"/>
            <a:ext cx="3657600" cy="323850"/>
          </a:xfrm>
          <a:prstGeom xmlns:a="http://schemas.openxmlformats.org/drawingml/2006/main" prst="roundRect">
            <a:avLst>
              <a:gd name="adj" fmla="val 50000"/>
            </a:avLst>
          </a:prstGeom>
          <a:solidFill xmlns:a="http://schemas.openxmlformats.org/drawingml/2006/main">
            <a:srgbClr val="EEE7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77E55BA-36E9-4FD4-A67E-898753D1734A}"/>
              </a:ext>
            </a:extLst>
          </p:cNvPr>
          <p:cNvSpPr>
            <a:spLocks xmlns:a="http://schemas.openxmlformats.org/drawingml/2006/main" noGrp="1"/>
          </p:cNvSpPr>
          <p:nvPr/>
        </p:nvSpPr>
        <p:spPr>
          <a:xfrm xmlns:a="http://schemas.openxmlformats.org/drawingml/2006/main">
            <a:off x="4362450" y="6029325"/>
            <a:ext cx="3467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6F43E7"/>
                </a:solidFill>
              </a:defRPr>
            </a:pPr>
            <a:r>
              <a:rPr sz="1050" b="1">
                <a:solidFill>
                  <a:srgbClr val="6F43E7"/>
                </a:solidFill>
              </a:rPr>
              <a:t>PERSIAN-FIRST BY CONSTRUCTION</a:t>
            </a:r>
          </a:p>
        </p:txBody>
      </p:sp>
      <p:sp>
        <p:nvSpPr>
          <p:cNvPr id="24" name="">
            <a:extLst xmlns:a="http://schemas.openxmlformats.org/drawingml/2006/main">
              <a:ext uri="{FF2B5EF4-FFF2-40B4-BE49-F238E27FC236}">
                <a16:creationId xmlns:a16="http://schemas.microsoft.com/office/drawing/2014/main" id="{B139931E-8EDD-4F64-A84F-3B6439E16CE2}"/>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3A31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F2768E1-4859-4FD8-993A-B84AF38637CC}"/>
              </a:ext>
            </a:extLst>
          </p:cNvPr>
          <p:cNvSpPr>
            <a:spLocks xmlns:a="http://schemas.openxmlformats.org/drawingml/2006/main" noGrp="1"/>
          </p:cNvSpPr>
          <p:nvPr/>
        </p:nvSpPr>
        <p:spPr>
          <a:xfrm xmlns:a="http://schemas.openxmlformats.org/drawingml/2006/main">
            <a:off x="609600" y="6572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9B6DFF"/>
                </a:solidFill>
              </a:defRPr>
            </a:pPr>
            <a:r>
              <a:rPr sz="750" b="1">
                <a:solidFill>
                  <a:srgbClr val="9B6DFF"/>
                </a:solidFill>
              </a:rPr>
              <a:t>NEURAI PLATFORM</a:t>
            </a:r>
          </a:p>
        </p:txBody>
      </p:sp>
      <p:sp>
        <p:nvSpPr>
          <p:cNvPr id="26" name="">
            <a:extLst xmlns:a="http://schemas.openxmlformats.org/drawingml/2006/main">
              <a:ext uri="{FF2B5EF4-FFF2-40B4-BE49-F238E27FC236}">
                <a16:creationId xmlns:a16="http://schemas.microsoft.com/office/drawing/2014/main" id="{1C946D28-CD43-4F38-97A7-C4D0BC99F65C}"/>
              </a:ext>
            </a:extLst>
          </p:cNvPr>
          <p:cNvSpPr>
            <a:spLocks xmlns:a="http://schemas.openxmlformats.org/drawingml/2006/main" noGrp="1"/>
          </p:cNvSpPr>
          <p:nvPr/>
        </p:nvSpPr>
        <p:spPr>
          <a:xfrm xmlns:a="http://schemas.openxmlformats.org/drawingml/2006/main">
            <a:off x="10782300" y="65532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9288A9"/>
                </a:solidFill>
              </a:defRPr>
            </a:pPr>
            <a:r>
              <a:rPr sz="750" b="1">
                <a:solidFill>
                  <a:srgbClr val="9288A9"/>
                </a:solidFill>
              </a:rPr>
              <a:t>10</a:t>
            </a:r>
          </a:p>
        </p:txBody>
      </p:sp>
    </p:spTree>
    <p:extLst>
      <p:ext uri="{BB962C8B-B14F-4D97-AF65-F5344CB8AC3E}">
        <p14:creationId xmlns:p14="http://schemas.microsoft.com/office/powerpoint/2010/main" val="374931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2026-08-26T00:00:07.2110000Z</dcterms:created>
  <dcterms:modified xsi:type="dcterms:W3CDTF">2026-08-26T00:00:07.2120000Z</dcterms:modified>
</coreProperties>
</file>